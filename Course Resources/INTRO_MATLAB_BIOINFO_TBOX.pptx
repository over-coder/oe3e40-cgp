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62" r:id="rId6"/>
    <p:sldId id="260" r:id="rId7"/>
    <p:sldId id="261" r:id="rId8"/>
    <p:sldId id="263" r:id="rId9"/>
    <p:sldId id="267" r:id="rId10"/>
    <p:sldId id="268" r:id="rId11"/>
    <p:sldId id="269" r:id="rId12"/>
    <p:sldId id="270" r:id="rId13"/>
    <p:sldId id="271" r:id="rId14"/>
    <p:sldId id="264" r:id="rId15"/>
    <p:sldId id="272" r:id="rId16"/>
    <p:sldId id="265" r:id="rId17"/>
    <p:sldId id="274" r:id="rId18"/>
    <p:sldId id="277" r:id="rId19"/>
    <p:sldId id="278" r:id="rId20"/>
    <p:sldId id="279" r:id="rId21"/>
    <p:sldId id="266" r:id="rId22"/>
    <p:sldId id="275" r:id="rId23"/>
    <p:sldId id="280" r:id="rId24"/>
    <p:sldId id="283" r:id="rId25"/>
    <p:sldId id="281" r:id="rId26"/>
    <p:sldId id="282" r:id="rId27"/>
    <p:sldId id="284" r:id="rId28"/>
    <p:sldId id="285" r:id="rId29"/>
    <p:sldId id="286" r:id="rId30"/>
    <p:sldId id="259"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6" d="100"/>
          <a:sy n="106" d="100"/>
        </p:scale>
        <p:origin x="75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7D3AF-425F-6BFF-35D1-E58E735C91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2C5D76-7B09-2A39-4134-BC19B4A7E6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154A780-5096-9BDF-AFDC-1CC74AE38FD7}"/>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5" name="Footer Placeholder 4">
            <a:extLst>
              <a:ext uri="{FF2B5EF4-FFF2-40B4-BE49-F238E27FC236}">
                <a16:creationId xmlns:a16="http://schemas.microsoft.com/office/drawing/2014/main" id="{F0C8372E-0A0F-BDF5-B121-1356C54EB0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7DC456-AE6B-0E4D-8FDC-FE4828EB1F0F}"/>
              </a:ext>
            </a:extLst>
          </p:cNvPr>
          <p:cNvSpPr>
            <a:spLocks noGrp="1"/>
          </p:cNvSpPr>
          <p:nvPr>
            <p:ph type="sldNum" sz="quarter" idx="12"/>
          </p:nvPr>
        </p:nvSpPr>
        <p:spPr/>
        <p:txBody>
          <a:bodyPr/>
          <a:lstStyle/>
          <a:p>
            <a:fld id="{5662FE1D-6F86-463A-986F-1AA8D920BEBF}" type="slidenum">
              <a:rPr lang="en-US" smtClean="0"/>
              <a:t>‹#›</a:t>
            </a:fld>
            <a:endParaRPr lang="en-US"/>
          </a:p>
        </p:txBody>
      </p:sp>
      <p:sp>
        <p:nvSpPr>
          <p:cNvPr id="7" name="TextBox 6">
            <a:extLst>
              <a:ext uri="{FF2B5EF4-FFF2-40B4-BE49-F238E27FC236}">
                <a16:creationId xmlns:a16="http://schemas.microsoft.com/office/drawing/2014/main" id="{4D00EBBA-233E-031A-8733-AB75263E4E04}"/>
              </a:ext>
            </a:extLst>
          </p:cNvPr>
          <p:cNvSpPr txBox="1"/>
          <p:nvPr userDrawn="1"/>
        </p:nvSpPr>
        <p:spPr>
          <a:xfrm rot="19863719">
            <a:off x="2079127" y="2448133"/>
            <a:ext cx="8204490" cy="2123658"/>
          </a:xfrm>
          <a:prstGeom prst="rect">
            <a:avLst/>
          </a:prstGeom>
          <a:noFill/>
        </p:spPr>
        <p:txBody>
          <a:bodyPr wrap="none" rtlCol="0">
            <a:spAutoFit/>
          </a:bodyPr>
          <a:lstStyle/>
          <a:p>
            <a:r>
              <a:rPr lang="en-US" sz="6600" dirty="0">
                <a:solidFill>
                  <a:schemeClr val="accent1">
                    <a:lumMod val="20000"/>
                    <a:lumOff val="80000"/>
                  </a:schemeClr>
                </a:solidFill>
                <a:latin typeface="Brush Script MT" panose="03060802040406070304" pitchFamily="66" charset="0"/>
              </a:rPr>
              <a:t>Prof. Sanjeev N. Sharma</a:t>
            </a:r>
          </a:p>
          <a:p>
            <a:r>
              <a:rPr lang="en-US" sz="6600" dirty="0">
                <a:solidFill>
                  <a:schemeClr val="accent1">
                    <a:lumMod val="20000"/>
                    <a:lumOff val="80000"/>
                  </a:schemeClr>
                </a:solidFill>
                <a:latin typeface="Brush Script MT" panose="03060802040406070304" pitchFamily="66" charset="0"/>
              </a:rPr>
              <a:t>PDPM IIITDM Jabalpur</a:t>
            </a:r>
          </a:p>
        </p:txBody>
      </p:sp>
    </p:spTree>
    <p:extLst>
      <p:ext uri="{BB962C8B-B14F-4D97-AF65-F5344CB8AC3E}">
        <p14:creationId xmlns:p14="http://schemas.microsoft.com/office/powerpoint/2010/main" val="112886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4EDA6-A8DD-4DB4-4DA6-7A20685D65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8CD8ED-6A8D-4C02-4F69-78CA462612A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46D3416-5D7C-2343-918B-5DC73C6C3565}"/>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5" name="Footer Placeholder 4">
            <a:extLst>
              <a:ext uri="{FF2B5EF4-FFF2-40B4-BE49-F238E27FC236}">
                <a16:creationId xmlns:a16="http://schemas.microsoft.com/office/drawing/2014/main" id="{A142283F-9615-C070-40EC-4BC07181FC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ACDF9-7A82-029C-F363-72C26328217D}"/>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29830612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A204B-2874-BFEB-AEEA-EC2B400019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53A6A2-6980-9F3C-04AF-A323A63577D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2AFF49-5557-7CF0-4A89-1471EEDFA4B1}"/>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5" name="Footer Placeholder 4">
            <a:extLst>
              <a:ext uri="{FF2B5EF4-FFF2-40B4-BE49-F238E27FC236}">
                <a16:creationId xmlns:a16="http://schemas.microsoft.com/office/drawing/2014/main" id="{897E3B5B-39EB-B4FF-226D-CCF9DA3C0A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206171-8114-806F-2F64-F536CF5AC10B}"/>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2998146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43B44-F6B8-E8B8-169C-6C03702C77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F4207B-E340-17AD-04E8-AFDE7D4CE5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9A0F39-8F3C-6F99-E905-508FF383BF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D26EFB-1DD4-8996-C496-6909B7B3EA7F}"/>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6" name="Footer Placeholder 5">
            <a:extLst>
              <a:ext uri="{FF2B5EF4-FFF2-40B4-BE49-F238E27FC236}">
                <a16:creationId xmlns:a16="http://schemas.microsoft.com/office/drawing/2014/main" id="{D66A74CA-9857-200C-B79D-790DCA433E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EB6667-B332-D4F8-C409-386A847D8CBC}"/>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2367540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BF3E6-F965-8935-BAF3-36236F4F923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19CF8D-3CE5-1C7D-9207-64384FB1E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FEB650-5937-1D13-549F-1AE38070AC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D44B4A-BBD4-1310-B587-FC508071D5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A4DA45-C42A-9963-4228-129A1FD449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1412D97-35CC-7285-1323-B57FEB0E6EB5}"/>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8" name="Footer Placeholder 7">
            <a:extLst>
              <a:ext uri="{FF2B5EF4-FFF2-40B4-BE49-F238E27FC236}">
                <a16:creationId xmlns:a16="http://schemas.microsoft.com/office/drawing/2014/main" id="{D9420AEB-3D9E-59E5-0904-C70A8AB2EA0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F6F071-662A-B854-8E78-C11DC00CC813}"/>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19561898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47408-4762-37AE-97D7-EF69547F9D3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FC8D80-CEAC-1989-8713-28AC42980B16}"/>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4" name="Footer Placeholder 3">
            <a:extLst>
              <a:ext uri="{FF2B5EF4-FFF2-40B4-BE49-F238E27FC236}">
                <a16:creationId xmlns:a16="http://schemas.microsoft.com/office/drawing/2014/main" id="{BC6E7D0B-2898-2863-520B-3CC483000E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18A039-31F5-624F-A8FE-204904FB446E}"/>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278439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82415A-AB0E-31A9-30CD-B7033A1129B5}"/>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3" name="Footer Placeholder 2">
            <a:extLst>
              <a:ext uri="{FF2B5EF4-FFF2-40B4-BE49-F238E27FC236}">
                <a16:creationId xmlns:a16="http://schemas.microsoft.com/office/drawing/2014/main" id="{0B07B511-97CE-90F1-490B-976BECF561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4E8533-7148-E601-BCD2-8552D525C1B4}"/>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407982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090E7-15D8-2941-544E-6FD923B4BB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51D06A-8945-0F36-A6A0-14C1768C955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1489C08-2053-2CF2-188F-4CA7422F70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2B1648-727D-0813-6E29-618F666C82E3}"/>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6" name="Footer Placeholder 5">
            <a:extLst>
              <a:ext uri="{FF2B5EF4-FFF2-40B4-BE49-F238E27FC236}">
                <a16:creationId xmlns:a16="http://schemas.microsoft.com/office/drawing/2014/main" id="{26634EE0-97EC-0E07-F126-2DB9E87CC6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D9F7EF-7FE1-5BC8-8DB4-75E3985CEDB6}"/>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1273943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23208-F73F-3EF5-DF58-1EEE3BBC2E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AA866D-0B88-3C2F-D6FA-5C4A53CA3F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BFE0F59-069A-1830-6322-57A1B6FD67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1C4E57-61A9-1CAB-85C9-5B5D67E527A9}"/>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6" name="Footer Placeholder 5">
            <a:extLst>
              <a:ext uri="{FF2B5EF4-FFF2-40B4-BE49-F238E27FC236}">
                <a16:creationId xmlns:a16="http://schemas.microsoft.com/office/drawing/2014/main" id="{D956DF4E-4C0E-4187-2DFB-740EC5B639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B82770-9A6A-BA00-E011-B21A08201631}"/>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97635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67AE6-A12D-22F2-0724-101E0CE5B1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735684-C2A4-045E-5D74-9C324724EA7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694C6F-DCCE-1AF1-A10E-87BE58F61997}"/>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5" name="Footer Placeholder 4">
            <a:extLst>
              <a:ext uri="{FF2B5EF4-FFF2-40B4-BE49-F238E27FC236}">
                <a16:creationId xmlns:a16="http://schemas.microsoft.com/office/drawing/2014/main" id="{198E205B-80C3-A100-D66A-7241F0380A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1CC78A-CDFC-B420-13E1-FF9570CA70A3}"/>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2120827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D3C3CE-FAB2-67BC-72FA-BA4BCD30F8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DD5AC3-B206-300A-0D79-62991CFCFE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72AB42-58EF-FFE9-1963-7B5659F1CB26}"/>
              </a:ext>
            </a:extLst>
          </p:cNvPr>
          <p:cNvSpPr>
            <a:spLocks noGrp="1"/>
          </p:cNvSpPr>
          <p:nvPr>
            <p:ph type="dt" sz="half" idx="10"/>
          </p:nvPr>
        </p:nvSpPr>
        <p:spPr/>
        <p:txBody>
          <a:bodyPr/>
          <a:lstStyle/>
          <a:p>
            <a:fld id="{82F575EA-84AF-4C8E-94FB-4A7ABA5D338E}" type="datetimeFigureOut">
              <a:rPr lang="en-US" smtClean="0"/>
              <a:t>9/6/2024</a:t>
            </a:fld>
            <a:endParaRPr lang="en-US"/>
          </a:p>
        </p:txBody>
      </p:sp>
      <p:sp>
        <p:nvSpPr>
          <p:cNvPr id="5" name="Footer Placeholder 4">
            <a:extLst>
              <a:ext uri="{FF2B5EF4-FFF2-40B4-BE49-F238E27FC236}">
                <a16:creationId xmlns:a16="http://schemas.microsoft.com/office/drawing/2014/main" id="{A89BEF4B-A7FF-07F1-9A3A-C247353D6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7B6651-F5BA-3203-8BFA-6235AFC1C9A3}"/>
              </a:ext>
            </a:extLst>
          </p:cNvPr>
          <p:cNvSpPr>
            <a:spLocks noGrp="1"/>
          </p:cNvSpPr>
          <p:nvPr>
            <p:ph type="sldNum" sz="quarter" idx="12"/>
          </p:nvPr>
        </p:nvSpPr>
        <p:spPr/>
        <p:txBody>
          <a:bodyPr/>
          <a:lstStyle/>
          <a:p>
            <a:fld id="{5662FE1D-6F86-463A-986F-1AA8D920BEBF}" type="slidenum">
              <a:rPr lang="en-US" smtClean="0"/>
              <a:t>‹#›</a:t>
            </a:fld>
            <a:endParaRPr lang="en-US"/>
          </a:p>
        </p:txBody>
      </p:sp>
    </p:spTree>
    <p:extLst>
      <p:ext uri="{BB962C8B-B14F-4D97-AF65-F5344CB8AC3E}">
        <p14:creationId xmlns:p14="http://schemas.microsoft.com/office/powerpoint/2010/main" val="27892334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3999E-F29B-2784-269B-F8AF52013B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0131459-E36B-8697-CB52-AF32E9882D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A6E15-A66A-77A7-197F-20EB86790268}"/>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5" name="Footer Placeholder 4">
            <a:extLst>
              <a:ext uri="{FF2B5EF4-FFF2-40B4-BE49-F238E27FC236}">
                <a16:creationId xmlns:a16="http://schemas.microsoft.com/office/drawing/2014/main" id="{3E2D31C4-18F6-1A7B-35CF-6471EDDD54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993048-A9B3-EE55-69A4-CB446921DE87}"/>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3729695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A75D-EEAA-D135-9DA5-57D14B9923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52EC56-88CF-5103-100B-D7DB06337E5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F4EBAA-77ED-1BF7-E265-34BF60290710}"/>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5" name="Footer Placeholder 4">
            <a:extLst>
              <a:ext uri="{FF2B5EF4-FFF2-40B4-BE49-F238E27FC236}">
                <a16:creationId xmlns:a16="http://schemas.microsoft.com/office/drawing/2014/main" id="{037595BF-7844-BC94-5FC5-1AC4E1225D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86A5DF-C8BA-1769-AE6E-055A06336B0D}"/>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1505630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C1BE-6C85-EFCA-4E9D-E50AACF27D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146610-9E12-57CC-B956-404715DF6FB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6047DC-4FB2-34C4-1EBF-ACEA9A6B8378}"/>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5" name="Footer Placeholder 4">
            <a:extLst>
              <a:ext uri="{FF2B5EF4-FFF2-40B4-BE49-F238E27FC236}">
                <a16:creationId xmlns:a16="http://schemas.microsoft.com/office/drawing/2014/main" id="{5AD4174C-247A-AB1B-F66A-926B98933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7B8508-3B57-3B74-0FA2-F5A908B19166}"/>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2841178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98169-A0A6-F598-CD4A-3982E03765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C8E722-5EF5-F5B0-E091-857CDF2904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5972390-942A-EF4E-427D-E8B0D185E8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2E0631-257F-037B-67DC-923D2CB59689}"/>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6" name="Footer Placeholder 5">
            <a:extLst>
              <a:ext uri="{FF2B5EF4-FFF2-40B4-BE49-F238E27FC236}">
                <a16:creationId xmlns:a16="http://schemas.microsoft.com/office/drawing/2014/main" id="{0B8BAAD9-1EFE-490B-DD47-FB5A2CC845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971FDD-966F-88B4-9093-9511C2E23E3B}"/>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329317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4C15E-E3C9-BCC5-5753-66C408FE824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C48218-652B-D02B-1A94-BEAEA75D4D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DA7546-59BD-9787-DB8D-9159A90B34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78DE85-D015-A3D7-31A7-1D24C8E2D6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05A1D7-6DB2-8F63-FD22-812923B869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1DCF44-BCD2-CF6D-CA3A-01931D3AE05C}"/>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8" name="Footer Placeholder 7">
            <a:extLst>
              <a:ext uri="{FF2B5EF4-FFF2-40B4-BE49-F238E27FC236}">
                <a16:creationId xmlns:a16="http://schemas.microsoft.com/office/drawing/2014/main" id="{B1FD79BF-F953-9AF1-CCAF-CDEDD1D3130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838BCA3-855C-062B-6F89-197C0E3CC6BD}"/>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960697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BE17-DE23-AF99-CB93-DBB85139EE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5F0985E-85D1-33F1-FC99-7A22317FAE39}"/>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4" name="Footer Placeholder 3">
            <a:extLst>
              <a:ext uri="{FF2B5EF4-FFF2-40B4-BE49-F238E27FC236}">
                <a16:creationId xmlns:a16="http://schemas.microsoft.com/office/drawing/2014/main" id="{9A403DC5-310C-F4E0-E787-7824548FD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15CE7E3-F75A-EC64-215E-615E1BA3BACB}"/>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20396779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65DD24-2DB4-675E-D93E-8EADA63DC65D}"/>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3" name="Footer Placeholder 2">
            <a:extLst>
              <a:ext uri="{FF2B5EF4-FFF2-40B4-BE49-F238E27FC236}">
                <a16:creationId xmlns:a16="http://schemas.microsoft.com/office/drawing/2014/main" id="{8B3CD1E1-DFE0-CB03-E549-2B6A066598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CCE863-6BCF-809A-704F-2BE03CA7F329}"/>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35609867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A3465-D2FD-AF99-6A8D-35949E5886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2DD9CE-8042-9935-E0D4-FE31C9359F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1522A8-5153-52CE-293C-A68E225664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4F25E1-489C-2525-3CAE-9F69F5C5CF36}"/>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6" name="Footer Placeholder 5">
            <a:extLst>
              <a:ext uri="{FF2B5EF4-FFF2-40B4-BE49-F238E27FC236}">
                <a16:creationId xmlns:a16="http://schemas.microsoft.com/office/drawing/2014/main" id="{799D533E-B67B-1934-AFBE-FDFAF765E4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38069A-B21B-28A9-1C51-2BE948FA5DAC}"/>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19259222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A4DCC-09E9-EA4F-68DA-1747750446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9546F1-3358-EA6D-48E5-8DCFD930A3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A4CD06-A33A-398F-4661-9BA286562C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515514-33D0-1A3A-ABEC-462285C26A0D}"/>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6" name="Footer Placeholder 5">
            <a:extLst>
              <a:ext uri="{FF2B5EF4-FFF2-40B4-BE49-F238E27FC236}">
                <a16:creationId xmlns:a16="http://schemas.microsoft.com/office/drawing/2014/main" id="{E898924A-3F73-186E-87C8-8350C4B9A9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4F0EB-D542-D65F-88D5-A4F2073260A5}"/>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1207239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1E323-68C1-F380-1DEF-0C0835B78E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2F1FA53-6562-49C7-B782-719BDF0511A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3A676-508D-7406-EA9F-C57768EA8013}"/>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5" name="Footer Placeholder 4">
            <a:extLst>
              <a:ext uri="{FF2B5EF4-FFF2-40B4-BE49-F238E27FC236}">
                <a16:creationId xmlns:a16="http://schemas.microsoft.com/office/drawing/2014/main" id="{8DB8FEDD-C6D6-1E03-9D24-799F70F9C6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9087C1-0F21-358F-09DF-81F495C10A7C}"/>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37897557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F3017A-17AB-5229-219F-AD47E08CD3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FD078C3-BB7B-2606-A953-562CA18FC3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481D58-30F9-90BD-C0B1-4C9F45747AA4}"/>
              </a:ext>
            </a:extLst>
          </p:cNvPr>
          <p:cNvSpPr>
            <a:spLocks noGrp="1"/>
          </p:cNvSpPr>
          <p:nvPr>
            <p:ph type="dt" sz="half" idx="10"/>
          </p:nvPr>
        </p:nvSpPr>
        <p:spPr/>
        <p:txBody>
          <a:bodyPr/>
          <a:lstStyle/>
          <a:p>
            <a:fld id="{CA5C282B-DC10-40E5-8422-B8321018DDE9}" type="datetimeFigureOut">
              <a:rPr lang="en-US" smtClean="0"/>
              <a:t>9/6/2024</a:t>
            </a:fld>
            <a:endParaRPr lang="en-US"/>
          </a:p>
        </p:txBody>
      </p:sp>
      <p:sp>
        <p:nvSpPr>
          <p:cNvPr id="5" name="Footer Placeholder 4">
            <a:extLst>
              <a:ext uri="{FF2B5EF4-FFF2-40B4-BE49-F238E27FC236}">
                <a16:creationId xmlns:a16="http://schemas.microsoft.com/office/drawing/2014/main" id="{D038F1A6-CD0D-4A98-3882-C3A1612BBD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C1841-D420-89B7-6ACB-572DE52DE805}"/>
              </a:ext>
            </a:extLst>
          </p:cNvPr>
          <p:cNvSpPr>
            <a:spLocks noGrp="1"/>
          </p:cNvSpPr>
          <p:nvPr>
            <p:ph type="sldNum" sz="quarter" idx="12"/>
          </p:nvPr>
        </p:nvSpPr>
        <p:spPr/>
        <p:txBody>
          <a:bodyPr/>
          <a:lstStyle/>
          <a:p>
            <a:fld id="{BFE8E144-CA93-4C3A-8A36-9CB9AE4EFFE5}" type="slidenum">
              <a:rPr lang="en-US" smtClean="0"/>
              <a:t>‹#›</a:t>
            </a:fld>
            <a:endParaRPr lang="en-US"/>
          </a:p>
        </p:txBody>
      </p:sp>
    </p:spTree>
    <p:extLst>
      <p:ext uri="{BB962C8B-B14F-4D97-AF65-F5344CB8AC3E}">
        <p14:creationId xmlns:p14="http://schemas.microsoft.com/office/powerpoint/2010/main" val="18577020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550F1D6-B222-440A-BE74-EDD8D4CCF5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AA4B46-EA34-961D-B8F6-2881B47E02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F5527E-A808-C9FB-A057-99D8FB6E12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575EA-84AF-4C8E-94FB-4A7ABA5D338E}" type="datetimeFigureOut">
              <a:rPr lang="en-US" smtClean="0"/>
              <a:t>9/6/2024</a:t>
            </a:fld>
            <a:endParaRPr lang="en-US"/>
          </a:p>
        </p:txBody>
      </p:sp>
      <p:sp>
        <p:nvSpPr>
          <p:cNvPr id="5" name="Footer Placeholder 4">
            <a:extLst>
              <a:ext uri="{FF2B5EF4-FFF2-40B4-BE49-F238E27FC236}">
                <a16:creationId xmlns:a16="http://schemas.microsoft.com/office/drawing/2014/main" id="{C219F0AD-C407-B386-CFAB-2797458E17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DBF901-B877-6B29-483D-3B2108CDA3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62FE1D-6F86-463A-986F-1AA8D920BEBF}" type="slidenum">
              <a:rPr lang="en-US" smtClean="0"/>
              <a:t>‹#›</a:t>
            </a:fld>
            <a:endParaRPr lang="en-US"/>
          </a:p>
        </p:txBody>
      </p:sp>
      <p:sp>
        <p:nvSpPr>
          <p:cNvPr id="7" name="TextBox 6">
            <a:extLst>
              <a:ext uri="{FF2B5EF4-FFF2-40B4-BE49-F238E27FC236}">
                <a16:creationId xmlns:a16="http://schemas.microsoft.com/office/drawing/2014/main" id="{65EFE533-129D-4281-7309-443DED1773D2}"/>
              </a:ext>
            </a:extLst>
          </p:cNvPr>
          <p:cNvSpPr txBox="1"/>
          <p:nvPr userDrawn="1"/>
        </p:nvSpPr>
        <p:spPr>
          <a:xfrm rot="19782599">
            <a:off x="1684255" y="2081205"/>
            <a:ext cx="9871613" cy="2308324"/>
          </a:xfrm>
          <a:prstGeom prst="rect">
            <a:avLst/>
          </a:prstGeom>
          <a:noFill/>
        </p:spPr>
        <p:txBody>
          <a:bodyPr wrap="none" rtlCol="0">
            <a:spAutoFit/>
          </a:bodyPr>
          <a:lstStyle/>
          <a:p>
            <a:r>
              <a:rPr lang="en-US" sz="7200" dirty="0">
                <a:solidFill>
                  <a:schemeClr val="tx2">
                    <a:lumMod val="20000"/>
                    <a:lumOff val="80000"/>
                  </a:schemeClr>
                </a:solidFill>
                <a:latin typeface="Bradley Hand ITC" panose="03070402050302030203" pitchFamily="66" charset="0"/>
              </a:rPr>
              <a:t>Prof. Sanjeev N. Sharma</a:t>
            </a:r>
          </a:p>
          <a:p>
            <a:r>
              <a:rPr lang="en-US" sz="7200" dirty="0">
                <a:solidFill>
                  <a:schemeClr val="tx2">
                    <a:lumMod val="20000"/>
                    <a:lumOff val="80000"/>
                  </a:schemeClr>
                </a:solidFill>
                <a:latin typeface="Bradley Hand ITC" panose="03070402050302030203" pitchFamily="66" charset="0"/>
              </a:rPr>
              <a:t>PDPM IIITDM Jabalpur</a:t>
            </a:r>
          </a:p>
        </p:txBody>
      </p:sp>
    </p:spTree>
    <p:extLst>
      <p:ext uri="{BB962C8B-B14F-4D97-AF65-F5344CB8AC3E}">
        <p14:creationId xmlns:p14="http://schemas.microsoft.com/office/powerpoint/2010/main" val="6470547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B59C08-3695-EA17-9E01-CEEF0C7472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EC2922-1D39-B593-109B-2A546B33C1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E0025C-A1C2-C8D9-AE67-1775BBAC5F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5C282B-DC10-40E5-8422-B8321018DDE9}" type="datetimeFigureOut">
              <a:rPr lang="en-US" smtClean="0"/>
              <a:t>9/6/2024</a:t>
            </a:fld>
            <a:endParaRPr lang="en-US"/>
          </a:p>
        </p:txBody>
      </p:sp>
      <p:sp>
        <p:nvSpPr>
          <p:cNvPr id="5" name="Footer Placeholder 4">
            <a:extLst>
              <a:ext uri="{FF2B5EF4-FFF2-40B4-BE49-F238E27FC236}">
                <a16:creationId xmlns:a16="http://schemas.microsoft.com/office/drawing/2014/main" id="{5666A56E-47B9-C3DA-2556-8DC31931AB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B566702-BE32-F8F9-7C07-AD24F55CFD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FE8E144-CA93-4C3A-8A36-9CB9AE4EFFE5}" type="slidenum">
              <a:rPr lang="en-US" smtClean="0"/>
              <a:t>‹#›</a:t>
            </a:fld>
            <a:endParaRPr lang="en-US"/>
          </a:p>
        </p:txBody>
      </p:sp>
    </p:spTree>
    <p:extLst>
      <p:ext uri="{BB962C8B-B14F-4D97-AF65-F5344CB8AC3E}">
        <p14:creationId xmlns:p14="http://schemas.microsoft.com/office/powerpoint/2010/main" val="39288897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4E424-9B3D-1762-C9DA-D7D1EC58C1D4}"/>
              </a:ext>
            </a:extLst>
          </p:cNvPr>
          <p:cNvSpPr>
            <a:spLocks noGrp="1"/>
          </p:cNvSpPr>
          <p:nvPr>
            <p:ph type="ctrTitle"/>
          </p:nvPr>
        </p:nvSpPr>
        <p:spPr/>
        <p:txBody>
          <a:bodyPr/>
          <a:lstStyle/>
          <a:p>
            <a:r>
              <a:rPr lang="en-US" b="1" dirty="0">
                <a:solidFill>
                  <a:srgbClr val="FF0000"/>
                </a:solidFill>
              </a:rPr>
              <a:t>MATLAB </a:t>
            </a:r>
            <a:br>
              <a:rPr lang="en-US" b="1" dirty="0">
                <a:solidFill>
                  <a:srgbClr val="FF0000"/>
                </a:solidFill>
              </a:rPr>
            </a:br>
            <a:r>
              <a:rPr lang="en-US" b="1" dirty="0">
                <a:solidFill>
                  <a:srgbClr val="FF0000"/>
                </a:solidFill>
              </a:rPr>
              <a:t>Bioinformatics Toolbox</a:t>
            </a:r>
          </a:p>
        </p:txBody>
      </p:sp>
      <p:sp>
        <p:nvSpPr>
          <p:cNvPr id="3" name="Subtitle 2">
            <a:extLst>
              <a:ext uri="{FF2B5EF4-FFF2-40B4-BE49-F238E27FC236}">
                <a16:creationId xmlns:a16="http://schemas.microsoft.com/office/drawing/2014/main" id="{695F043C-9D03-A3C4-EFF9-C4A11BE749F5}"/>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779502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CE4B1-C510-3B4D-0B2E-A94A183EFFFB}"/>
              </a:ext>
            </a:extLst>
          </p:cNvPr>
          <p:cNvSpPr>
            <a:spLocks noGrp="1"/>
          </p:cNvSpPr>
          <p:nvPr>
            <p:ph type="title"/>
          </p:nvPr>
        </p:nvSpPr>
        <p:spPr/>
        <p:txBody>
          <a:bodyPr>
            <a:normAutofit/>
          </a:bodyPr>
          <a:lstStyle/>
          <a:p>
            <a:pPr algn="ctr"/>
            <a:r>
              <a:rPr lang="en-US" sz="2400" b="1" dirty="0">
                <a:solidFill>
                  <a:srgbClr val="FF0000"/>
                </a:solidFill>
                <a:latin typeface="NewCenturySchlbk-Roman"/>
              </a:rPr>
              <a:t>G</a:t>
            </a:r>
            <a:r>
              <a:rPr lang="en-US" sz="2400" b="1" i="0" u="none" strike="noStrike" baseline="0" dirty="0">
                <a:solidFill>
                  <a:srgbClr val="FF0000"/>
                </a:solidFill>
                <a:latin typeface="NewCenturySchlbk-Roman"/>
              </a:rPr>
              <a:t>enome and Proteome </a:t>
            </a:r>
            <a:r>
              <a:rPr lang="en-US" sz="2400" b="1" dirty="0">
                <a:solidFill>
                  <a:srgbClr val="FF0000"/>
                </a:solidFill>
                <a:latin typeface="NewCenturySchlbk-Roman"/>
              </a:rPr>
              <a:t>A</a:t>
            </a:r>
            <a:r>
              <a:rPr lang="en-US" sz="2400" b="1" i="0" u="none" strike="noStrike" baseline="0" dirty="0">
                <a:solidFill>
                  <a:srgbClr val="FF0000"/>
                </a:solidFill>
                <a:latin typeface="NewCenturySchlbk-Roman"/>
              </a:rPr>
              <a:t>nalysis Using MATLAB Bioinformatics Toolbox</a:t>
            </a:r>
            <a:endParaRPr lang="en-US" sz="2400" b="1" dirty="0">
              <a:solidFill>
                <a:srgbClr val="FF0000"/>
              </a:solidFill>
            </a:endParaRPr>
          </a:p>
        </p:txBody>
      </p:sp>
      <p:sp>
        <p:nvSpPr>
          <p:cNvPr id="3" name="Content Placeholder 2">
            <a:extLst>
              <a:ext uri="{FF2B5EF4-FFF2-40B4-BE49-F238E27FC236}">
                <a16:creationId xmlns:a16="http://schemas.microsoft.com/office/drawing/2014/main" id="{8B87513D-AEB7-CD52-1675-BF025C780931}"/>
              </a:ext>
            </a:extLst>
          </p:cNvPr>
          <p:cNvSpPr>
            <a:spLocks noGrp="1"/>
          </p:cNvSpPr>
          <p:nvPr>
            <p:ph idx="1"/>
          </p:nvPr>
        </p:nvSpPr>
        <p:spPr/>
        <p:txBody>
          <a:bodyPr>
            <a:normAutofit/>
          </a:bodyPr>
          <a:lstStyle/>
          <a:p>
            <a:r>
              <a:rPr lang="en-US" sz="2000" b="0" i="0" u="none" strike="noStrike" baseline="0" dirty="0">
                <a:latin typeface="NewCenturySchlbk-Roman"/>
              </a:rPr>
              <a:t>Connecting to Web accessible databases</a:t>
            </a:r>
          </a:p>
          <a:p>
            <a:pPr marL="0" indent="0" algn="l">
              <a:buNone/>
            </a:pPr>
            <a:r>
              <a:rPr lang="en-US" sz="2000" b="1" i="0" u="none" strike="noStrike" baseline="0" dirty="0">
                <a:latin typeface="Futura-Bold"/>
              </a:rPr>
              <a:t>• </a:t>
            </a:r>
            <a:r>
              <a:rPr lang="en-US" sz="2000" b="0" i="0" u="none" strike="noStrike" baseline="0" dirty="0">
                <a:latin typeface="NewCenturySchlbk-Roman"/>
              </a:rPr>
              <a:t>Reading and converting between multiple data formats</a:t>
            </a:r>
          </a:p>
          <a:p>
            <a:pPr marL="0" indent="0" algn="l">
              <a:buNone/>
            </a:pPr>
            <a:r>
              <a:rPr lang="en-US" sz="2000" b="1" i="0" u="none" strike="noStrike" baseline="0" dirty="0">
                <a:latin typeface="Futura-Bold"/>
              </a:rPr>
              <a:t>• </a:t>
            </a:r>
            <a:r>
              <a:rPr lang="en-US" sz="2000" b="0" i="0" u="none" strike="noStrike" baseline="0" dirty="0">
                <a:latin typeface="NewCenturySchlbk-Roman"/>
              </a:rPr>
              <a:t>Determining statistical characteristics of data</a:t>
            </a:r>
          </a:p>
          <a:p>
            <a:pPr marL="0" indent="0" algn="l">
              <a:buNone/>
            </a:pPr>
            <a:r>
              <a:rPr lang="en-US" sz="2000" b="1" i="0" u="none" strike="noStrike" baseline="0" dirty="0">
                <a:latin typeface="Futura-Bold"/>
              </a:rPr>
              <a:t>• </a:t>
            </a:r>
            <a:r>
              <a:rPr lang="en-US" sz="2000" b="0" i="0" u="none" strike="noStrike" baseline="0" dirty="0">
                <a:latin typeface="NewCenturySchlbk-Roman"/>
              </a:rPr>
              <a:t>Manipulating and aligning sequences</a:t>
            </a:r>
          </a:p>
          <a:p>
            <a:pPr marL="0" indent="0" algn="l">
              <a:buNone/>
            </a:pPr>
            <a:r>
              <a:rPr lang="en-US" sz="2000" b="1" i="0" u="none" strike="noStrike" baseline="0" dirty="0">
                <a:latin typeface="Futura-Bold"/>
              </a:rPr>
              <a:t>• </a:t>
            </a:r>
            <a:r>
              <a:rPr lang="en-US" sz="2000" b="0" i="0" u="none" strike="noStrike" baseline="0" dirty="0">
                <a:latin typeface="NewCenturySchlbk-Roman"/>
              </a:rPr>
              <a:t>Modeling patterns in biological sequences using Hidden Markov Model (HMM) profiles</a:t>
            </a:r>
          </a:p>
          <a:p>
            <a:pPr marL="0" indent="0" algn="l">
              <a:buNone/>
            </a:pPr>
            <a:r>
              <a:rPr lang="en-US" sz="2000" b="1" i="0" u="none" strike="noStrike" baseline="0" dirty="0">
                <a:latin typeface="Futura-Bold"/>
              </a:rPr>
              <a:t>• </a:t>
            </a:r>
            <a:r>
              <a:rPr lang="en-US" sz="2000" b="0" i="0" u="none" strike="noStrike" baseline="0" dirty="0">
                <a:latin typeface="NewCenturySchlbk-Roman"/>
              </a:rPr>
              <a:t>Reading, normalizing, and visualizing microarray data</a:t>
            </a:r>
          </a:p>
          <a:p>
            <a:pPr marL="0" indent="0" algn="l">
              <a:buNone/>
            </a:pPr>
            <a:r>
              <a:rPr lang="en-US" sz="2000" b="1" i="0" u="none" strike="noStrike" baseline="0" dirty="0">
                <a:latin typeface="Futura-Bold"/>
              </a:rPr>
              <a:t>• </a:t>
            </a:r>
            <a:r>
              <a:rPr lang="en-US" sz="2000" b="0" i="0" u="none" strike="noStrike" baseline="0" dirty="0">
                <a:latin typeface="NewCenturySchlbk-Roman"/>
              </a:rPr>
              <a:t>Creating and manipulating phylogenetic tree data</a:t>
            </a:r>
          </a:p>
          <a:p>
            <a:pPr marL="0" indent="0" algn="l">
              <a:buNone/>
            </a:pPr>
            <a:r>
              <a:rPr lang="en-US" sz="2000" b="1" i="0" u="none" strike="noStrike" baseline="0" dirty="0">
                <a:latin typeface="Futura-Bold"/>
              </a:rPr>
              <a:t>• </a:t>
            </a:r>
            <a:r>
              <a:rPr lang="en-US" sz="2000" b="0" i="0" u="none" strike="noStrike" baseline="0" dirty="0">
                <a:latin typeface="NewCenturySchlbk-Roman"/>
              </a:rPr>
              <a:t>Interfacing with other bioinformatic software (</a:t>
            </a:r>
            <a:r>
              <a:rPr lang="en-US" sz="2000" b="0" i="0" u="none" strike="noStrike" baseline="0" dirty="0" err="1">
                <a:latin typeface="NewCenturySchlbk-Roman"/>
              </a:rPr>
              <a:t>BioPearl</a:t>
            </a:r>
            <a:r>
              <a:rPr lang="en-US" sz="2000" b="0" i="0" u="none" strike="noStrike" baseline="0" dirty="0">
                <a:latin typeface="NewCenturySchlbk-Roman"/>
              </a:rPr>
              <a:t> and </a:t>
            </a:r>
            <a:r>
              <a:rPr lang="en-US" sz="2000" b="0" i="0" u="none" strike="noStrike" baseline="0" dirty="0" err="1">
                <a:latin typeface="NewCenturySchlbk-Roman"/>
              </a:rPr>
              <a:t>BioJava</a:t>
            </a:r>
            <a:r>
              <a:rPr lang="en-US" sz="2000" b="0" i="0" u="none" strike="noStrike" baseline="0" dirty="0">
                <a:latin typeface="NewCenturySchlbk-Roman"/>
              </a:rPr>
              <a:t>)</a:t>
            </a:r>
            <a:endParaRPr lang="en-US" sz="2000" dirty="0"/>
          </a:p>
        </p:txBody>
      </p:sp>
    </p:spTree>
    <p:extLst>
      <p:ext uri="{BB962C8B-B14F-4D97-AF65-F5344CB8AC3E}">
        <p14:creationId xmlns:p14="http://schemas.microsoft.com/office/powerpoint/2010/main" val="11298062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4807-101A-1E3C-F26B-4E1F5A486A37}"/>
              </a:ext>
            </a:extLst>
          </p:cNvPr>
          <p:cNvSpPr>
            <a:spLocks noGrp="1"/>
          </p:cNvSpPr>
          <p:nvPr>
            <p:ph type="title"/>
          </p:nvPr>
        </p:nvSpPr>
        <p:spPr/>
        <p:txBody>
          <a:bodyPr/>
          <a:lstStyle/>
          <a:p>
            <a:pPr algn="ctr"/>
            <a:r>
              <a:rPr lang="en-US" sz="4400" b="1" i="0" u="none" strike="noStrike" baseline="0" dirty="0">
                <a:solidFill>
                  <a:srgbClr val="FF0000"/>
                </a:solidFill>
                <a:latin typeface="NewCenturySchlbk-Bold"/>
              </a:rPr>
              <a:t>Web-Based </a:t>
            </a:r>
            <a:r>
              <a:rPr lang="en-US" b="1" dirty="0">
                <a:solidFill>
                  <a:srgbClr val="FF0000"/>
                </a:solidFill>
                <a:latin typeface="NewCenturySchlbk-Bold"/>
              </a:rPr>
              <a:t>D</a:t>
            </a:r>
            <a:r>
              <a:rPr lang="en-US" sz="4400" b="1" i="0" u="none" strike="noStrike" baseline="0" dirty="0">
                <a:solidFill>
                  <a:srgbClr val="FF0000"/>
                </a:solidFill>
                <a:latin typeface="NewCenturySchlbk-Bold"/>
              </a:rPr>
              <a:t>atabases</a:t>
            </a:r>
            <a:endParaRPr lang="en-US" dirty="0">
              <a:solidFill>
                <a:srgbClr val="FF0000"/>
              </a:solidFill>
            </a:endParaRPr>
          </a:p>
        </p:txBody>
      </p:sp>
      <p:sp>
        <p:nvSpPr>
          <p:cNvPr id="3" name="Content Placeholder 2">
            <a:extLst>
              <a:ext uri="{FF2B5EF4-FFF2-40B4-BE49-F238E27FC236}">
                <a16:creationId xmlns:a16="http://schemas.microsoft.com/office/drawing/2014/main" id="{AA781C66-E5C4-A6FE-099F-44919D283C1E}"/>
              </a:ext>
            </a:extLst>
          </p:cNvPr>
          <p:cNvSpPr>
            <a:spLocks noGrp="1"/>
          </p:cNvSpPr>
          <p:nvPr>
            <p:ph idx="1"/>
          </p:nvPr>
        </p:nvSpPr>
        <p:spPr/>
        <p:txBody>
          <a:bodyPr>
            <a:normAutofit/>
          </a:bodyPr>
          <a:lstStyle/>
          <a:p>
            <a:pPr algn="just"/>
            <a:r>
              <a:rPr lang="en-US" sz="2800" b="0" i="0" u="none" strike="noStrike" baseline="0" dirty="0">
                <a:latin typeface="NewCenturySchlbk-Roman"/>
              </a:rPr>
              <a:t> You can directly access public databases on the Web and copy sequence and gene expression information into MATLAB.</a:t>
            </a:r>
          </a:p>
          <a:p>
            <a:pPr marL="0" indent="0" algn="just">
              <a:buNone/>
            </a:pPr>
            <a:endParaRPr lang="en-US" sz="2800" b="0" i="0" u="none" strike="noStrike" baseline="0" dirty="0">
              <a:latin typeface="NewCenturySchlbk-Roman"/>
            </a:endParaRPr>
          </a:p>
          <a:p>
            <a:pPr algn="just"/>
            <a:r>
              <a:rPr lang="en-US" sz="2800" b="0" i="0" u="none" strike="noStrike" baseline="0" dirty="0">
                <a:latin typeface="NewCenturySchlbk-Roman"/>
              </a:rPr>
              <a:t>Currently supported sequence databases are GenBank (</a:t>
            </a:r>
            <a:r>
              <a:rPr lang="en-US" sz="2400" b="0" i="0" u="none" strike="noStrike" baseline="0" dirty="0" err="1">
                <a:solidFill>
                  <a:srgbClr val="00B050"/>
                </a:solidFill>
                <a:latin typeface="Monospace821BT-Roman"/>
              </a:rPr>
              <a:t>getgenbank</a:t>
            </a:r>
            <a:r>
              <a:rPr lang="en-US" sz="2800" b="0" i="0" u="none" strike="noStrike" baseline="0" dirty="0">
                <a:latin typeface="NewCenturySchlbk-Roman"/>
              </a:rPr>
              <a:t>), </a:t>
            </a:r>
            <a:r>
              <a:rPr lang="en-US" sz="2800" b="0" i="0" u="none" strike="noStrike" baseline="0" dirty="0" err="1">
                <a:latin typeface="NewCenturySchlbk-Roman"/>
              </a:rPr>
              <a:t>GenPept</a:t>
            </a:r>
            <a:r>
              <a:rPr lang="en-US" sz="2800" b="0" i="0" u="none" strike="noStrike" baseline="0" dirty="0">
                <a:latin typeface="NewCenturySchlbk-Roman"/>
              </a:rPr>
              <a:t>(</a:t>
            </a:r>
            <a:r>
              <a:rPr lang="en-US" sz="2400" b="0" i="0" u="none" strike="noStrike" baseline="0" dirty="0" err="1">
                <a:solidFill>
                  <a:srgbClr val="00B050"/>
                </a:solidFill>
                <a:latin typeface="Monospace821BT-Roman"/>
              </a:rPr>
              <a:t>getgenpept</a:t>
            </a:r>
            <a:r>
              <a:rPr lang="en-US" sz="2800" b="0" i="0" u="none" strike="noStrike" baseline="0" dirty="0">
                <a:latin typeface="NewCenturySchlbk-Roman"/>
              </a:rPr>
              <a:t>), European Molecular Biology Laboratory EMBL (</a:t>
            </a:r>
            <a:r>
              <a:rPr lang="en-US" sz="2400" b="0" i="0" u="none" strike="noStrike" baseline="0" dirty="0" err="1">
                <a:solidFill>
                  <a:srgbClr val="00B050"/>
                </a:solidFill>
                <a:latin typeface="Monospace821BT-Roman"/>
              </a:rPr>
              <a:t>getembl</a:t>
            </a:r>
            <a:r>
              <a:rPr lang="en-US" sz="2800" b="0" i="0" u="none" strike="noStrike" baseline="0" dirty="0">
                <a:latin typeface="NewCenturySchlbk-Roman"/>
              </a:rPr>
              <a:t>),Protein Sequence Database PIR-PSD (</a:t>
            </a:r>
            <a:r>
              <a:rPr lang="en-US" sz="2400" b="0" i="0" u="none" strike="noStrike" baseline="0" dirty="0" err="1">
                <a:solidFill>
                  <a:srgbClr val="00B050"/>
                </a:solidFill>
                <a:latin typeface="Monospace821BT-Roman"/>
              </a:rPr>
              <a:t>getpir</a:t>
            </a:r>
            <a:r>
              <a:rPr lang="en-US" sz="2800" b="0" i="0" u="none" strike="noStrike" baseline="0" dirty="0">
                <a:latin typeface="NewCenturySchlbk-Roman"/>
              </a:rPr>
              <a:t>), and Protein Data Bank PDB(</a:t>
            </a:r>
            <a:r>
              <a:rPr lang="en-US" sz="2400" b="0" i="0" u="none" strike="noStrike" baseline="0" dirty="0" err="1">
                <a:solidFill>
                  <a:srgbClr val="00B050"/>
                </a:solidFill>
                <a:latin typeface="Monospace821BT-Roman"/>
              </a:rPr>
              <a:t>getpdb</a:t>
            </a:r>
            <a:r>
              <a:rPr lang="en-US" sz="2800" b="0" i="0" u="none" strike="noStrike" baseline="0" dirty="0">
                <a:latin typeface="NewCenturySchlbk-Roman"/>
              </a:rPr>
              <a:t>). You can also access data from the NCBI Gene Expression Omnibus(GEO) web site by using a single function (</a:t>
            </a:r>
            <a:r>
              <a:rPr lang="en-US" sz="2400" b="0" i="0" u="none" strike="noStrike" baseline="0" dirty="0" err="1">
                <a:solidFill>
                  <a:srgbClr val="00B050"/>
                </a:solidFill>
                <a:latin typeface="Monospace821BT-Roman"/>
              </a:rPr>
              <a:t>getgeodata</a:t>
            </a:r>
            <a:r>
              <a:rPr lang="en-US" sz="2800" b="0" i="0" u="none" strike="noStrike" baseline="0" dirty="0">
                <a:latin typeface="NewCenturySchlbk-Roman"/>
              </a:rPr>
              <a:t>).</a:t>
            </a:r>
            <a:endParaRPr lang="en-US" dirty="0"/>
          </a:p>
        </p:txBody>
      </p:sp>
    </p:spTree>
    <p:extLst>
      <p:ext uri="{BB962C8B-B14F-4D97-AF65-F5344CB8AC3E}">
        <p14:creationId xmlns:p14="http://schemas.microsoft.com/office/powerpoint/2010/main" val="3005755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B7C46-ED63-028F-5A49-D006F52B4A90}"/>
              </a:ext>
            </a:extLst>
          </p:cNvPr>
          <p:cNvSpPr>
            <a:spLocks noGrp="1"/>
          </p:cNvSpPr>
          <p:nvPr>
            <p:ph type="title"/>
          </p:nvPr>
        </p:nvSpPr>
        <p:spPr/>
        <p:txBody>
          <a:bodyPr/>
          <a:lstStyle/>
          <a:p>
            <a:pPr algn="ctr"/>
            <a:r>
              <a:rPr lang="en-US" sz="4000" b="1" i="0" u="none" strike="noStrike" baseline="0" dirty="0">
                <a:solidFill>
                  <a:srgbClr val="FF0000"/>
                </a:solidFill>
                <a:latin typeface="NewCenturySchlbk-Roman"/>
              </a:rPr>
              <a:t>Connecting to Web Accessible </a:t>
            </a:r>
            <a:r>
              <a:rPr lang="en-US" sz="4000" b="1" dirty="0">
                <a:solidFill>
                  <a:srgbClr val="FF0000"/>
                </a:solidFill>
                <a:latin typeface="NewCenturySchlbk-Roman"/>
              </a:rPr>
              <a:t>D</a:t>
            </a:r>
            <a:r>
              <a:rPr lang="en-US" sz="4000" b="1" i="0" u="none" strike="noStrike" baseline="0" dirty="0">
                <a:solidFill>
                  <a:srgbClr val="FF0000"/>
                </a:solidFill>
                <a:latin typeface="NewCenturySchlbk-Roman"/>
              </a:rPr>
              <a:t>atabases</a:t>
            </a:r>
          </a:p>
        </p:txBody>
      </p:sp>
      <p:sp>
        <p:nvSpPr>
          <p:cNvPr id="3" name="Content Placeholder 2">
            <a:extLst>
              <a:ext uri="{FF2B5EF4-FFF2-40B4-BE49-F238E27FC236}">
                <a16:creationId xmlns:a16="http://schemas.microsoft.com/office/drawing/2014/main" id="{894239CF-3063-0E9D-FDC0-69D1244E8D1D}"/>
              </a:ext>
            </a:extLst>
          </p:cNvPr>
          <p:cNvSpPr>
            <a:spLocks noGrp="1"/>
          </p:cNvSpPr>
          <p:nvPr>
            <p:ph idx="1"/>
          </p:nvPr>
        </p:nvSpPr>
        <p:spPr/>
        <p:txBody>
          <a:bodyPr>
            <a:normAutofit fontScale="85000" lnSpcReduction="20000"/>
          </a:bodyPr>
          <a:lstStyle/>
          <a:p>
            <a:pPr algn="just"/>
            <a:r>
              <a:rPr lang="en-US" dirty="0"/>
              <a:t>1 Use the MATLAB Help browser to explore the Web. In the MATLAB Command Window, type</a:t>
            </a:r>
          </a:p>
          <a:p>
            <a:pPr marL="0" indent="0" algn="just">
              <a:buNone/>
            </a:pPr>
            <a:r>
              <a:rPr lang="en-US" dirty="0"/>
              <a:t>              </a:t>
            </a:r>
            <a:r>
              <a:rPr lang="en-US" b="1" dirty="0">
                <a:solidFill>
                  <a:srgbClr val="00B050"/>
                </a:solidFill>
              </a:rPr>
              <a:t>web('http://www.ncbi.nlm.nih.gov/’) </a:t>
            </a:r>
          </a:p>
          <a:p>
            <a:pPr algn="just"/>
            <a:r>
              <a:rPr lang="en-US" dirty="0"/>
              <a:t>A separate browser window opens with the home page for the NCBI Web site</a:t>
            </a:r>
          </a:p>
          <a:p>
            <a:pPr algn="just"/>
            <a:r>
              <a:rPr lang="en-US" dirty="0"/>
              <a:t>2 Search the NCBI Web site for information. For example, to search for the human mitochondrion genome, from the Search list, select Genome, and in the for box, enter mitochondrion homo sapiens.</a:t>
            </a:r>
          </a:p>
          <a:p>
            <a:pPr algn="just"/>
            <a:r>
              <a:rPr lang="en-US" dirty="0"/>
              <a:t>The NCBI Web search returns a list of links to relevant pages.</a:t>
            </a:r>
          </a:p>
          <a:p>
            <a:pPr algn="just"/>
            <a:r>
              <a:rPr lang="en-IN" dirty="0"/>
              <a:t>Get sequence information from a Web database. For example, to get sequence information for the human mitochondrial genome, in the MATLAB Command Window, type </a:t>
            </a:r>
          </a:p>
          <a:p>
            <a:pPr marL="0" indent="0" algn="just">
              <a:buNone/>
            </a:pPr>
            <a:r>
              <a:rPr lang="en-IN" b="1" dirty="0">
                <a:solidFill>
                  <a:srgbClr val="00B050"/>
                </a:solidFill>
              </a:rPr>
              <a:t>               mitochondria = </a:t>
            </a:r>
            <a:r>
              <a:rPr lang="en-IN" b="1" dirty="0" err="1">
                <a:solidFill>
                  <a:srgbClr val="00B050"/>
                </a:solidFill>
              </a:rPr>
              <a:t>getgenbank</a:t>
            </a:r>
            <a:r>
              <a:rPr lang="en-IN" b="1" dirty="0">
                <a:solidFill>
                  <a:srgbClr val="00B050"/>
                </a:solidFill>
              </a:rPr>
              <a:t>('NC_012920.1','SequenceOnly',true)</a:t>
            </a:r>
          </a:p>
        </p:txBody>
      </p:sp>
    </p:spTree>
    <p:extLst>
      <p:ext uri="{BB962C8B-B14F-4D97-AF65-F5344CB8AC3E}">
        <p14:creationId xmlns:p14="http://schemas.microsoft.com/office/powerpoint/2010/main" val="3661067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539AA-F5BF-0815-276A-AD9DEBED2E3C}"/>
              </a:ext>
            </a:extLst>
          </p:cNvPr>
          <p:cNvSpPr>
            <a:spLocks noGrp="1"/>
          </p:cNvSpPr>
          <p:nvPr>
            <p:ph type="title"/>
          </p:nvPr>
        </p:nvSpPr>
        <p:spPr/>
        <p:txBody>
          <a:bodyPr>
            <a:normAutofit/>
          </a:bodyPr>
          <a:lstStyle/>
          <a:p>
            <a:pPr algn="ctr"/>
            <a:r>
              <a:rPr lang="en-US" sz="4000" b="1" i="0" u="none" strike="noStrike" baseline="0" dirty="0">
                <a:solidFill>
                  <a:srgbClr val="FF0000"/>
                </a:solidFill>
                <a:latin typeface="Futura-Bold"/>
              </a:rPr>
              <a:t>Sequence Statistics</a:t>
            </a:r>
            <a:endParaRPr lang="en-US" sz="4000" dirty="0">
              <a:solidFill>
                <a:srgbClr val="FF0000"/>
              </a:solidFill>
            </a:endParaRPr>
          </a:p>
        </p:txBody>
      </p:sp>
      <p:sp>
        <p:nvSpPr>
          <p:cNvPr id="3" name="Content Placeholder 2">
            <a:extLst>
              <a:ext uri="{FF2B5EF4-FFF2-40B4-BE49-F238E27FC236}">
                <a16:creationId xmlns:a16="http://schemas.microsoft.com/office/drawing/2014/main" id="{FD43F66D-9D4E-E233-A762-06544516F188}"/>
              </a:ext>
            </a:extLst>
          </p:cNvPr>
          <p:cNvSpPr>
            <a:spLocks noGrp="1"/>
          </p:cNvSpPr>
          <p:nvPr>
            <p:ph idx="1"/>
          </p:nvPr>
        </p:nvSpPr>
        <p:spPr/>
        <p:txBody>
          <a:bodyPr>
            <a:normAutofit/>
          </a:bodyPr>
          <a:lstStyle/>
          <a:p>
            <a:pPr marL="0" indent="0" algn="just">
              <a:buNone/>
            </a:pPr>
            <a:r>
              <a:rPr lang="en-US" b="0" i="0" u="none" strike="noStrike" baseline="0" dirty="0">
                <a:latin typeface="NewCenturySchlbk-Roman"/>
              </a:rPr>
              <a:t>After sequencing a piece of DNA, one of the first tasks is to investigate the nucleotide content in the sequence, i.e., to determine mono-, di-, and trinucleotide content, and to locate open reading frames.</a:t>
            </a:r>
          </a:p>
          <a:p>
            <a:pPr marL="0" indent="0" algn="just">
              <a:buNone/>
            </a:pPr>
            <a:r>
              <a:rPr lang="en-US" dirty="0"/>
              <a:t> </a:t>
            </a:r>
            <a:r>
              <a:rPr lang="en-US" b="1" dirty="0" err="1">
                <a:solidFill>
                  <a:srgbClr val="00B050"/>
                </a:solidFill>
              </a:rPr>
              <a:t>aacount</a:t>
            </a:r>
            <a:r>
              <a:rPr lang="en-US" b="1" dirty="0">
                <a:solidFill>
                  <a:srgbClr val="00B050"/>
                </a:solidFill>
              </a:rPr>
              <a:t>, </a:t>
            </a:r>
            <a:r>
              <a:rPr lang="en-US" b="1" dirty="0" err="1">
                <a:solidFill>
                  <a:srgbClr val="00B050"/>
                </a:solidFill>
              </a:rPr>
              <a:t>basecount</a:t>
            </a:r>
            <a:r>
              <a:rPr lang="en-US" b="1" dirty="0">
                <a:solidFill>
                  <a:srgbClr val="00B050"/>
                </a:solidFill>
              </a:rPr>
              <a:t>, </a:t>
            </a:r>
            <a:r>
              <a:rPr lang="en-US" b="1" dirty="0" err="1">
                <a:solidFill>
                  <a:srgbClr val="00B050"/>
                </a:solidFill>
              </a:rPr>
              <a:t>codoncount</a:t>
            </a:r>
            <a:r>
              <a:rPr lang="en-US" b="1" dirty="0">
                <a:solidFill>
                  <a:srgbClr val="00B050"/>
                </a:solidFill>
              </a:rPr>
              <a:t>, </a:t>
            </a:r>
            <a:r>
              <a:rPr lang="en-US" b="1" dirty="0" err="1">
                <a:solidFill>
                  <a:srgbClr val="00B050"/>
                </a:solidFill>
              </a:rPr>
              <a:t>dimercount</a:t>
            </a:r>
            <a:r>
              <a:rPr lang="en-US" b="1" dirty="0">
                <a:solidFill>
                  <a:srgbClr val="00B050"/>
                </a:solidFill>
              </a:rPr>
              <a:t>, </a:t>
            </a:r>
            <a:r>
              <a:rPr lang="en-US" b="1" dirty="0" err="1">
                <a:solidFill>
                  <a:srgbClr val="00B050"/>
                </a:solidFill>
              </a:rPr>
              <a:t>nmercount</a:t>
            </a:r>
            <a:r>
              <a:rPr lang="en-US" b="1" dirty="0">
                <a:solidFill>
                  <a:srgbClr val="00B050"/>
                </a:solidFill>
              </a:rPr>
              <a:t>, </a:t>
            </a:r>
            <a:r>
              <a:rPr lang="en-US" b="1" dirty="0" err="1">
                <a:solidFill>
                  <a:srgbClr val="00B050"/>
                </a:solidFill>
              </a:rPr>
              <a:t>ntdensity</a:t>
            </a:r>
            <a:r>
              <a:rPr lang="en-US" dirty="0"/>
              <a:t> </a:t>
            </a:r>
          </a:p>
          <a:p>
            <a:pPr marL="0" indent="0" algn="just">
              <a:buNone/>
            </a:pPr>
            <a:r>
              <a:rPr lang="en-US" dirty="0"/>
              <a:t>search for specific patterns within a sequence</a:t>
            </a:r>
          </a:p>
          <a:p>
            <a:pPr marL="0" indent="0" algn="just">
              <a:buNone/>
            </a:pPr>
            <a:r>
              <a:rPr lang="en-US" dirty="0"/>
              <a:t> (</a:t>
            </a:r>
            <a:r>
              <a:rPr lang="en-US" b="1" dirty="0" err="1">
                <a:solidFill>
                  <a:srgbClr val="00B050"/>
                </a:solidFill>
              </a:rPr>
              <a:t>seqshowwords</a:t>
            </a:r>
            <a:r>
              <a:rPr lang="en-US" b="1" dirty="0">
                <a:solidFill>
                  <a:srgbClr val="00B050"/>
                </a:solidFill>
              </a:rPr>
              <a:t>, </a:t>
            </a:r>
            <a:r>
              <a:rPr lang="en-US" b="1" dirty="0" err="1">
                <a:solidFill>
                  <a:srgbClr val="00B050"/>
                </a:solidFill>
              </a:rPr>
              <a:t>seqwordcount</a:t>
            </a:r>
            <a:r>
              <a:rPr lang="en-US" dirty="0"/>
              <a:t>), </a:t>
            </a:r>
          </a:p>
          <a:p>
            <a:pPr marL="0" indent="0" algn="just">
              <a:buNone/>
            </a:pPr>
            <a:r>
              <a:rPr lang="en-US" dirty="0"/>
              <a:t>or search for open reading frames (</a:t>
            </a:r>
            <a:r>
              <a:rPr lang="en-US" b="1" dirty="0" err="1">
                <a:solidFill>
                  <a:srgbClr val="00B050"/>
                </a:solidFill>
              </a:rPr>
              <a:t>seqshoworfs</a:t>
            </a:r>
            <a:r>
              <a:rPr lang="en-US" dirty="0"/>
              <a:t>). </a:t>
            </a:r>
          </a:p>
          <a:p>
            <a:pPr marL="0" indent="0" algn="just">
              <a:buNone/>
            </a:pPr>
            <a:r>
              <a:rPr lang="en-US" dirty="0"/>
              <a:t>In addition, you can create random sequences for test cases (</a:t>
            </a:r>
            <a:r>
              <a:rPr lang="en-US" dirty="0" err="1">
                <a:solidFill>
                  <a:srgbClr val="00B050"/>
                </a:solidFill>
              </a:rPr>
              <a:t>randseq</a:t>
            </a:r>
            <a:r>
              <a:rPr lang="en-US" dirty="0"/>
              <a:t>)</a:t>
            </a:r>
          </a:p>
        </p:txBody>
      </p:sp>
    </p:spTree>
    <p:extLst>
      <p:ext uri="{BB962C8B-B14F-4D97-AF65-F5344CB8AC3E}">
        <p14:creationId xmlns:p14="http://schemas.microsoft.com/office/powerpoint/2010/main" val="1652930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2332A-7DFC-C8B2-3149-DAF7EA8F2EBB}"/>
              </a:ext>
            </a:extLst>
          </p:cNvPr>
          <p:cNvSpPr>
            <a:spLocks noGrp="1"/>
          </p:cNvSpPr>
          <p:nvPr>
            <p:ph type="title"/>
          </p:nvPr>
        </p:nvSpPr>
        <p:spPr/>
        <p:txBody>
          <a:bodyPr>
            <a:normAutofit/>
          </a:bodyPr>
          <a:lstStyle/>
          <a:p>
            <a:pPr algn="ctr"/>
            <a:r>
              <a:rPr lang="en-US" sz="4000" b="1" i="0" u="none" strike="noStrike" baseline="0" dirty="0">
                <a:solidFill>
                  <a:srgbClr val="FF0000"/>
                </a:solidFill>
                <a:latin typeface="Futura-Bold"/>
              </a:rPr>
              <a:t>Determining Nucleotide Content</a:t>
            </a:r>
            <a:endParaRPr lang="en-US" sz="4000" dirty="0">
              <a:solidFill>
                <a:srgbClr val="FF0000"/>
              </a:solidFill>
            </a:endParaRPr>
          </a:p>
        </p:txBody>
      </p:sp>
      <p:sp>
        <p:nvSpPr>
          <p:cNvPr id="3" name="Content Placeholder 2">
            <a:extLst>
              <a:ext uri="{FF2B5EF4-FFF2-40B4-BE49-F238E27FC236}">
                <a16:creationId xmlns:a16="http://schemas.microsoft.com/office/drawing/2014/main" id="{B53A0396-0B24-A9E1-C458-A45BECD48427}"/>
              </a:ext>
            </a:extLst>
          </p:cNvPr>
          <p:cNvSpPr>
            <a:spLocks noGrp="1"/>
          </p:cNvSpPr>
          <p:nvPr>
            <p:ph idx="1"/>
          </p:nvPr>
        </p:nvSpPr>
        <p:spPr/>
        <p:txBody>
          <a:bodyPr>
            <a:normAutofit/>
          </a:bodyPr>
          <a:lstStyle/>
          <a:p>
            <a:pPr marL="0" indent="0" algn="just">
              <a:buNone/>
            </a:pPr>
            <a:r>
              <a:rPr lang="en-US" b="0" i="0" u="none" strike="noStrike" baseline="0" dirty="0">
                <a:solidFill>
                  <a:srgbClr val="00B0F0"/>
                </a:solidFill>
                <a:latin typeface="NewCenturySchlbk-Roman"/>
              </a:rPr>
              <a:t>Example :</a:t>
            </a:r>
            <a:r>
              <a:rPr lang="en-US" b="0" i="0" u="none" strike="noStrike" baseline="0" dirty="0">
                <a:latin typeface="NewCenturySchlbk-Roman"/>
              </a:rPr>
              <a:t> Studying the human mitochondrial genome. While many genes that code for mitochondrial proteins are found in the cell nucleus, the mitochondrial has genes that code for proteins used to produce energy.</a:t>
            </a:r>
            <a:endParaRPr lang="en-US" dirty="0"/>
          </a:p>
        </p:txBody>
      </p:sp>
    </p:spTree>
    <p:extLst>
      <p:ext uri="{BB962C8B-B14F-4D97-AF65-F5344CB8AC3E}">
        <p14:creationId xmlns:p14="http://schemas.microsoft.com/office/powerpoint/2010/main" val="3180408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EAA72-58F8-05D6-CFFF-D0771DEA94CA}"/>
              </a:ext>
            </a:extLst>
          </p:cNvPr>
          <p:cNvSpPr>
            <a:spLocks noGrp="1"/>
          </p:cNvSpPr>
          <p:nvPr>
            <p:ph type="title"/>
          </p:nvPr>
        </p:nvSpPr>
        <p:spPr>
          <a:xfrm>
            <a:off x="920393" y="108271"/>
            <a:ext cx="10515600" cy="806129"/>
          </a:xfrm>
        </p:spPr>
        <p:txBody>
          <a:bodyPr>
            <a:normAutofit/>
          </a:bodyPr>
          <a:lstStyle/>
          <a:p>
            <a:pPr algn="ctr"/>
            <a:r>
              <a:rPr kumimoji="0" lang="en-US" sz="3600" b="1" i="0" u="none" strike="noStrike" kern="1200" cap="none" spc="0" normalizeH="0" baseline="0" noProof="0" dirty="0">
                <a:ln>
                  <a:noFill/>
                </a:ln>
                <a:solidFill>
                  <a:srgbClr val="FF0000"/>
                </a:solidFill>
                <a:effectLst/>
                <a:uLnTx/>
                <a:uFillTx/>
                <a:latin typeface="Futura-Bold"/>
                <a:ea typeface="+mj-ea"/>
                <a:cs typeface="+mj-cs"/>
              </a:rPr>
              <a:t>Determining Nucleotide Content</a:t>
            </a:r>
            <a:endParaRPr lang="en-IN" sz="3600" dirty="0"/>
          </a:p>
        </p:txBody>
      </p:sp>
      <p:sp>
        <p:nvSpPr>
          <p:cNvPr id="3" name="Content Placeholder 2">
            <a:extLst>
              <a:ext uri="{FF2B5EF4-FFF2-40B4-BE49-F238E27FC236}">
                <a16:creationId xmlns:a16="http://schemas.microsoft.com/office/drawing/2014/main" id="{3CA6C121-9231-692C-7BAC-61701ED7EA47}"/>
              </a:ext>
            </a:extLst>
          </p:cNvPr>
          <p:cNvSpPr>
            <a:spLocks noGrp="1"/>
          </p:cNvSpPr>
          <p:nvPr>
            <p:ph idx="1"/>
          </p:nvPr>
        </p:nvSpPr>
        <p:spPr>
          <a:xfrm>
            <a:off x="838200" y="914400"/>
            <a:ext cx="10515600" cy="5835329"/>
          </a:xfrm>
        </p:spPr>
        <p:txBody>
          <a:bodyPr>
            <a:normAutofit fontScale="85000" lnSpcReduction="20000"/>
          </a:bodyPr>
          <a:lstStyle/>
          <a:p>
            <a:r>
              <a:rPr lang="en-US" dirty="0"/>
              <a:t>1 Plot monomer densities and combined monomer densities in a graph. In the MATLAB Command window, type</a:t>
            </a:r>
          </a:p>
          <a:p>
            <a:pPr marL="0" indent="0">
              <a:buNone/>
            </a:pPr>
            <a:r>
              <a:rPr lang="en-US" dirty="0">
                <a:solidFill>
                  <a:srgbClr val="00B0F0"/>
                </a:solidFill>
              </a:rPr>
              <a:t>                           </a:t>
            </a:r>
            <a:r>
              <a:rPr lang="en-US" b="1" dirty="0" err="1">
                <a:solidFill>
                  <a:srgbClr val="00B050"/>
                </a:solidFill>
              </a:rPr>
              <a:t>ntdensity</a:t>
            </a:r>
            <a:r>
              <a:rPr lang="en-US" b="1" dirty="0">
                <a:solidFill>
                  <a:srgbClr val="00B050"/>
                </a:solidFill>
              </a:rPr>
              <a:t>(mitochondria) </a:t>
            </a:r>
          </a:p>
          <a:p>
            <a:r>
              <a:rPr lang="en-US" dirty="0"/>
              <a:t>This graph shows that the genome is A+T rich.</a:t>
            </a:r>
          </a:p>
          <a:p>
            <a:r>
              <a:rPr lang="en-US" dirty="0"/>
              <a:t>2 Count the nucleotides using the function </a:t>
            </a:r>
            <a:r>
              <a:rPr lang="en-US" dirty="0" err="1"/>
              <a:t>basecount</a:t>
            </a:r>
            <a:r>
              <a:rPr lang="en-US" dirty="0"/>
              <a:t>.           </a:t>
            </a:r>
          </a:p>
          <a:p>
            <a:pPr marL="0" indent="0">
              <a:buNone/>
            </a:pPr>
            <a:r>
              <a:rPr lang="en-US" dirty="0">
                <a:solidFill>
                  <a:srgbClr val="00B0F0"/>
                </a:solidFill>
              </a:rPr>
              <a:t>                     </a:t>
            </a:r>
            <a:r>
              <a:rPr lang="en-US" b="1" dirty="0" err="1">
                <a:solidFill>
                  <a:srgbClr val="00B050"/>
                </a:solidFill>
              </a:rPr>
              <a:t>basecount</a:t>
            </a:r>
            <a:r>
              <a:rPr lang="en-US" b="1" dirty="0">
                <a:solidFill>
                  <a:srgbClr val="00B050"/>
                </a:solidFill>
              </a:rPr>
              <a:t>(mitochondria)</a:t>
            </a:r>
          </a:p>
          <a:p>
            <a:pPr marL="0" indent="0">
              <a:buNone/>
            </a:pPr>
            <a:r>
              <a:rPr lang="en-US" dirty="0"/>
              <a:t>3 Count the nucleotides in the reverse complement of a sequence using the function </a:t>
            </a:r>
            <a:r>
              <a:rPr lang="en-US" dirty="0" err="1"/>
              <a:t>seqrcomplement</a:t>
            </a:r>
            <a:r>
              <a:rPr lang="en-US" dirty="0"/>
              <a:t>.    </a:t>
            </a:r>
          </a:p>
          <a:p>
            <a:pPr marL="0" indent="0">
              <a:buNone/>
            </a:pPr>
            <a:r>
              <a:rPr lang="en-US" dirty="0"/>
              <a:t>                  </a:t>
            </a:r>
            <a:r>
              <a:rPr lang="en-US" b="1" dirty="0" err="1">
                <a:solidFill>
                  <a:srgbClr val="00B050"/>
                </a:solidFill>
              </a:rPr>
              <a:t>basecount</a:t>
            </a:r>
            <a:r>
              <a:rPr lang="en-US" b="1" dirty="0">
                <a:solidFill>
                  <a:srgbClr val="00B050"/>
                </a:solidFill>
              </a:rPr>
              <a:t>(</a:t>
            </a:r>
            <a:r>
              <a:rPr lang="en-US" b="1" dirty="0" err="1">
                <a:solidFill>
                  <a:srgbClr val="00B050"/>
                </a:solidFill>
              </a:rPr>
              <a:t>seqrcomplement</a:t>
            </a:r>
            <a:r>
              <a:rPr lang="en-US" b="1" dirty="0">
                <a:solidFill>
                  <a:srgbClr val="00B050"/>
                </a:solidFill>
              </a:rPr>
              <a:t>(mitochondria))</a:t>
            </a:r>
          </a:p>
          <a:p>
            <a:pPr marL="0" indent="0">
              <a:buNone/>
            </a:pPr>
            <a:r>
              <a:rPr lang="en-US" dirty="0"/>
              <a:t>4 Use the function </a:t>
            </a:r>
            <a:r>
              <a:rPr lang="en-US" dirty="0" err="1"/>
              <a:t>basecount</a:t>
            </a:r>
            <a:r>
              <a:rPr lang="en-US" dirty="0"/>
              <a:t> with the chart option to visualize the nucleotide distribution.</a:t>
            </a:r>
          </a:p>
          <a:p>
            <a:pPr marL="0" indent="0">
              <a:buNone/>
            </a:pPr>
            <a:r>
              <a:rPr lang="en-US" dirty="0">
                <a:solidFill>
                  <a:srgbClr val="00B0F0"/>
                </a:solidFill>
              </a:rPr>
              <a:t>                           </a:t>
            </a:r>
            <a:r>
              <a:rPr lang="en-US" b="1" dirty="0" err="1">
                <a:solidFill>
                  <a:srgbClr val="00B050"/>
                </a:solidFill>
              </a:rPr>
              <a:t>basecount</a:t>
            </a:r>
            <a:r>
              <a:rPr lang="en-US" b="1" dirty="0">
                <a:solidFill>
                  <a:srgbClr val="00B050"/>
                </a:solidFill>
              </a:rPr>
              <a:t>(</a:t>
            </a:r>
            <a:r>
              <a:rPr lang="en-US" b="1" dirty="0" err="1">
                <a:solidFill>
                  <a:srgbClr val="00B050"/>
                </a:solidFill>
              </a:rPr>
              <a:t>mitochondria,'chart','pie</a:t>
            </a:r>
            <a:r>
              <a:rPr lang="en-US" b="1" dirty="0">
                <a:solidFill>
                  <a:srgbClr val="00B050"/>
                </a:solidFill>
              </a:rPr>
              <a:t>’); </a:t>
            </a:r>
          </a:p>
          <a:p>
            <a:pPr marL="0" indent="0">
              <a:buNone/>
            </a:pPr>
            <a:r>
              <a:rPr lang="en-US" dirty="0"/>
              <a:t>MATLAB draws a pie chart in a figure window.</a:t>
            </a:r>
          </a:p>
          <a:p>
            <a:pPr marL="0" indent="0">
              <a:buNone/>
            </a:pPr>
            <a:r>
              <a:rPr lang="en-US" dirty="0"/>
              <a:t>5 Count the dimers in a sequence and display the information in a bar chart.</a:t>
            </a:r>
          </a:p>
          <a:p>
            <a:pPr marL="0" indent="0">
              <a:buNone/>
            </a:pPr>
            <a:r>
              <a:rPr lang="en-US" dirty="0"/>
              <a:t>                               </a:t>
            </a:r>
            <a:r>
              <a:rPr lang="en-US" b="1" dirty="0" err="1">
                <a:solidFill>
                  <a:srgbClr val="00B050"/>
                </a:solidFill>
              </a:rPr>
              <a:t>dimercount</a:t>
            </a:r>
            <a:r>
              <a:rPr lang="en-US" b="1" dirty="0">
                <a:solidFill>
                  <a:srgbClr val="00B050"/>
                </a:solidFill>
              </a:rPr>
              <a:t>(</a:t>
            </a:r>
            <a:r>
              <a:rPr lang="en-US" b="1" dirty="0" err="1">
                <a:solidFill>
                  <a:srgbClr val="00B050"/>
                </a:solidFill>
              </a:rPr>
              <a:t>mitochondria,'chart','bar</a:t>
            </a:r>
            <a:r>
              <a:rPr lang="en-US" b="1" dirty="0">
                <a:solidFill>
                  <a:srgbClr val="00B050"/>
                </a:solidFill>
              </a:rPr>
              <a:t>’) </a:t>
            </a:r>
          </a:p>
          <a:p>
            <a:pPr marL="0" indent="0">
              <a:buNone/>
            </a:pPr>
            <a:r>
              <a:rPr lang="en-US" dirty="0"/>
              <a:t>MATLAB lists the dimer counts and draws a bar chart.</a:t>
            </a:r>
            <a:endParaRPr lang="en-IN" dirty="0">
              <a:solidFill>
                <a:srgbClr val="00B0F0"/>
              </a:solidFill>
            </a:endParaRPr>
          </a:p>
        </p:txBody>
      </p:sp>
    </p:spTree>
    <p:extLst>
      <p:ext uri="{BB962C8B-B14F-4D97-AF65-F5344CB8AC3E}">
        <p14:creationId xmlns:p14="http://schemas.microsoft.com/office/powerpoint/2010/main" val="3764899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15998-AC21-CB03-5E89-374913B9E1AF}"/>
              </a:ext>
            </a:extLst>
          </p:cNvPr>
          <p:cNvSpPr>
            <a:spLocks noGrp="1"/>
          </p:cNvSpPr>
          <p:nvPr>
            <p:ph type="title"/>
          </p:nvPr>
        </p:nvSpPr>
        <p:spPr/>
        <p:txBody>
          <a:bodyPr/>
          <a:lstStyle/>
          <a:p>
            <a:pPr algn="ctr"/>
            <a:r>
              <a:rPr lang="en-US" b="1" dirty="0" err="1">
                <a:solidFill>
                  <a:srgbClr val="00B050"/>
                </a:solidFill>
              </a:rPr>
              <a:t>ntdensity</a:t>
            </a:r>
            <a:r>
              <a:rPr lang="en-US" b="1" dirty="0">
                <a:solidFill>
                  <a:srgbClr val="00B050"/>
                </a:solidFill>
              </a:rPr>
              <a:t>(mitochondria) </a:t>
            </a:r>
            <a:br>
              <a:rPr lang="en-US" b="1" dirty="0">
                <a:solidFill>
                  <a:srgbClr val="00B050"/>
                </a:solidFill>
              </a:rPr>
            </a:br>
            <a:endParaRPr lang="en-IN" dirty="0"/>
          </a:p>
        </p:txBody>
      </p:sp>
      <p:pic>
        <p:nvPicPr>
          <p:cNvPr id="5" name="Content Placeholder 4">
            <a:extLst>
              <a:ext uri="{FF2B5EF4-FFF2-40B4-BE49-F238E27FC236}">
                <a16:creationId xmlns:a16="http://schemas.microsoft.com/office/drawing/2014/main" id="{CCD02DDD-2B4C-54BC-820C-0D3521406495}"/>
              </a:ext>
            </a:extLst>
          </p:cNvPr>
          <p:cNvPicPr>
            <a:picLocks noGrp="1" noChangeAspect="1"/>
          </p:cNvPicPr>
          <p:nvPr>
            <p:ph idx="1"/>
          </p:nvPr>
        </p:nvPicPr>
        <p:blipFill>
          <a:blip r:embed="rId2"/>
          <a:stretch>
            <a:fillRect/>
          </a:stretch>
        </p:blipFill>
        <p:spPr>
          <a:xfrm>
            <a:off x="2978332" y="1168174"/>
            <a:ext cx="6433762" cy="5121275"/>
          </a:xfrm>
        </p:spPr>
      </p:pic>
    </p:spTree>
    <p:extLst>
      <p:ext uri="{BB962C8B-B14F-4D97-AF65-F5344CB8AC3E}">
        <p14:creationId xmlns:p14="http://schemas.microsoft.com/office/powerpoint/2010/main" val="5913975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72058-C47B-47F2-6CC4-31629859F8CC}"/>
              </a:ext>
            </a:extLst>
          </p:cNvPr>
          <p:cNvSpPr>
            <a:spLocks noGrp="1"/>
          </p:cNvSpPr>
          <p:nvPr>
            <p:ph type="title"/>
          </p:nvPr>
        </p:nvSpPr>
        <p:spPr/>
        <p:txBody>
          <a:bodyPr/>
          <a:lstStyle/>
          <a:p>
            <a:pPr algn="ctr"/>
            <a:r>
              <a:rPr lang="en-US" b="1" dirty="0" err="1">
                <a:solidFill>
                  <a:srgbClr val="00B050"/>
                </a:solidFill>
              </a:rPr>
              <a:t>basecount</a:t>
            </a:r>
            <a:r>
              <a:rPr lang="en-US" b="1" dirty="0">
                <a:solidFill>
                  <a:srgbClr val="00B050"/>
                </a:solidFill>
              </a:rPr>
              <a:t>(mitochondria)</a:t>
            </a:r>
            <a:br>
              <a:rPr lang="en-US" b="1" dirty="0">
                <a:solidFill>
                  <a:srgbClr val="00B050"/>
                </a:solidFill>
              </a:rPr>
            </a:br>
            <a:endParaRPr lang="en-IN" dirty="0"/>
          </a:p>
        </p:txBody>
      </p:sp>
      <p:pic>
        <p:nvPicPr>
          <p:cNvPr id="5" name="Content Placeholder 4">
            <a:extLst>
              <a:ext uri="{FF2B5EF4-FFF2-40B4-BE49-F238E27FC236}">
                <a16:creationId xmlns:a16="http://schemas.microsoft.com/office/drawing/2014/main" id="{895853B0-D94A-BA16-455D-CE8CED881A4A}"/>
              </a:ext>
            </a:extLst>
          </p:cNvPr>
          <p:cNvPicPr>
            <a:picLocks noGrp="1" noChangeAspect="1"/>
          </p:cNvPicPr>
          <p:nvPr>
            <p:ph idx="1"/>
          </p:nvPr>
        </p:nvPicPr>
        <p:blipFill>
          <a:blip r:embed="rId2"/>
          <a:stretch>
            <a:fillRect/>
          </a:stretch>
        </p:blipFill>
        <p:spPr>
          <a:xfrm>
            <a:off x="1044943" y="2100225"/>
            <a:ext cx="10820077" cy="2369536"/>
          </a:xfrm>
        </p:spPr>
      </p:pic>
    </p:spTree>
    <p:extLst>
      <p:ext uri="{BB962C8B-B14F-4D97-AF65-F5344CB8AC3E}">
        <p14:creationId xmlns:p14="http://schemas.microsoft.com/office/powerpoint/2010/main" val="1837799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A6F81-76D0-E0EC-4FF3-50DA12F12265}"/>
              </a:ext>
            </a:extLst>
          </p:cNvPr>
          <p:cNvSpPr>
            <a:spLocks noGrp="1"/>
          </p:cNvSpPr>
          <p:nvPr>
            <p:ph type="title"/>
          </p:nvPr>
        </p:nvSpPr>
        <p:spPr/>
        <p:txBody>
          <a:bodyPr/>
          <a:lstStyle/>
          <a:p>
            <a:pPr algn="ctr"/>
            <a:r>
              <a:rPr lang="en-US" b="1" dirty="0" err="1">
                <a:solidFill>
                  <a:srgbClr val="00B050"/>
                </a:solidFill>
              </a:rPr>
              <a:t>basecount</a:t>
            </a:r>
            <a:r>
              <a:rPr lang="en-US" b="1" dirty="0">
                <a:solidFill>
                  <a:srgbClr val="00B050"/>
                </a:solidFill>
              </a:rPr>
              <a:t>(</a:t>
            </a:r>
            <a:r>
              <a:rPr lang="en-US" b="1" dirty="0" err="1">
                <a:solidFill>
                  <a:srgbClr val="00B050"/>
                </a:solidFill>
              </a:rPr>
              <a:t>seqrcomplement</a:t>
            </a:r>
            <a:r>
              <a:rPr lang="en-US" b="1" dirty="0">
                <a:solidFill>
                  <a:srgbClr val="00B050"/>
                </a:solidFill>
              </a:rPr>
              <a:t>(mitochondria))</a:t>
            </a:r>
            <a:br>
              <a:rPr lang="en-US" b="1" dirty="0">
                <a:solidFill>
                  <a:srgbClr val="00B050"/>
                </a:solidFill>
              </a:rPr>
            </a:br>
            <a:endParaRPr lang="en-IN" dirty="0"/>
          </a:p>
        </p:txBody>
      </p:sp>
      <p:pic>
        <p:nvPicPr>
          <p:cNvPr id="5" name="Content Placeholder 4">
            <a:extLst>
              <a:ext uri="{FF2B5EF4-FFF2-40B4-BE49-F238E27FC236}">
                <a16:creationId xmlns:a16="http://schemas.microsoft.com/office/drawing/2014/main" id="{1655D11B-0367-ECF9-1CE2-C2D4E2A95670}"/>
              </a:ext>
            </a:extLst>
          </p:cNvPr>
          <p:cNvPicPr>
            <a:picLocks noGrp="1" noChangeAspect="1"/>
          </p:cNvPicPr>
          <p:nvPr>
            <p:ph idx="1"/>
          </p:nvPr>
        </p:nvPicPr>
        <p:blipFill>
          <a:blip r:embed="rId2"/>
          <a:stretch>
            <a:fillRect/>
          </a:stretch>
        </p:blipFill>
        <p:spPr>
          <a:xfrm>
            <a:off x="1586051" y="1584959"/>
            <a:ext cx="9767749" cy="3816237"/>
          </a:xfrm>
        </p:spPr>
      </p:pic>
    </p:spTree>
    <p:extLst>
      <p:ext uri="{BB962C8B-B14F-4D97-AF65-F5344CB8AC3E}">
        <p14:creationId xmlns:p14="http://schemas.microsoft.com/office/powerpoint/2010/main" val="34532939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92C96-B1A9-A6BD-FBF0-9915A0A5CD76}"/>
              </a:ext>
            </a:extLst>
          </p:cNvPr>
          <p:cNvSpPr>
            <a:spLocks noGrp="1"/>
          </p:cNvSpPr>
          <p:nvPr>
            <p:ph type="title"/>
          </p:nvPr>
        </p:nvSpPr>
        <p:spPr/>
        <p:txBody>
          <a:bodyPr/>
          <a:lstStyle/>
          <a:p>
            <a:pPr algn="ctr"/>
            <a:r>
              <a:rPr lang="en-US" b="1" dirty="0" err="1">
                <a:solidFill>
                  <a:srgbClr val="00B050"/>
                </a:solidFill>
              </a:rPr>
              <a:t>basecount</a:t>
            </a:r>
            <a:r>
              <a:rPr lang="en-US" b="1" dirty="0">
                <a:solidFill>
                  <a:srgbClr val="00B050"/>
                </a:solidFill>
              </a:rPr>
              <a:t>(</a:t>
            </a:r>
            <a:r>
              <a:rPr lang="en-US" b="1" dirty="0" err="1">
                <a:solidFill>
                  <a:srgbClr val="00B050"/>
                </a:solidFill>
              </a:rPr>
              <a:t>mitochondria,'chart','pie</a:t>
            </a:r>
            <a:r>
              <a:rPr lang="en-US" b="1" dirty="0">
                <a:solidFill>
                  <a:srgbClr val="00B050"/>
                </a:solidFill>
              </a:rPr>
              <a:t>’); </a:t>
            </a:r>
            <a:br>
              <a:rPr lang="en-US" b="1" dirty="0">
                <a:solidFill>
                  <a:srgbClr val="00B050"/>
                </a:solidFill>
              </a:rPr>
            </a:br>
            <a:endParaRPr lang="en-IN" dirty="0"/>
          </a:p>
        </p:txBody>
      </p:sp>
      <p:pic>
        <p:nvPicPr>
          <p:cNvPr id="5" name="Content Placeholder 4">
            <a:extLst>
              <a:ext uri="{FF2B5EF4-FFF2-40B4-BE49-F238E27FC236}">
                <a16:creationId xmlns:a16="http://schemas.microsoft.com/office/drawing/2014/main" id="{E7709EB3-3C57-240A-4F74-627F4665C59A}"/>
              </a:ext>
            </a:extLst>
          </p:cNvPr>
          <p:cNvPicPr>
            <a:picLocks noGrp="1" noChangeAspect="1"/>
          </p:cNvPicPr>
          <p:nvPr>
            <p:ph idx="1"/>
          </p:nvPr>
        </p:nvPicPr>
        <p:blipFill>
          <a:blip r:embed="rId2"/>
          <a:stretch>
            <a:fillRect/>
          </a:stretch>
        </p:blipFill>
        <p:spPr>
          <a:xfrm>
            <a:off x="2893583" y="1079863"/>
            <a:ext cx="6680296" cy="5708469"/>
          </a:xfrm>
        </p:spPr>
      </p:pic>
    </p:spTree>
    <p:extLst>
      <p:ext uri="{BB962C8B-B14F-4D97-AF65-F5344CB8AC3E}">
        <p14:creationId xmlns:p14="http://schemas.microsoft.com/office/powerpoint/2010/main" val="1829850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3DFC9-8C93-361C-712F-F51FE16FD280}"/>
              </a:ext>
            </a:extLst>
          </p:cNvPr>
          <p:cNvSpPr>
            <a:spLocks noGrp="1"/>
          </p:cNvSpPr>
          <p:nvPr>
            <p:ph type="title"/>
          </p:nvPr>
        </p:nvSpPr>
        <p:spPr/>
        <p:txBody>
          <a:bodyPr/>
          <a:lstStyle/>
          <a:p>
            <a:pPr marL="0" marR="0" lvl="0" indent="0" algn="ctr" defTabSz="914400" rtl="0" eaLnBrk="1" fontAlgn="auto" latinLnBrk="0" hangingPunct="1">
              <a:lnSpc>
                <a:spcPct val="90000"/>
              </a:lnSpc>
              <a:spcBef>
                <a:spcPts val="1000"/>
              </a:spcBef>
              <a:spcAft>
                <a:spcPts val="0"/>
              </a:spcAft>
              <a:tabLst/>
              <a:defRPr/>
            </a:pPr>
            <a:r>
              <a:rPr kumimoji="0" lang="en-US" sz="2400" b="1" i="0" u="none" strike="noStrike" kern="1200" cap="none" spc="0" normalizeH="0" baseline="0" noProof="0" dirty="0" err="1">
                <a:ln>
                  <a:noFill/>
                </a:ln>
                <a:solidFill>
                  <a:srgbClr val="00B050"/>
                </a:solidFill>
                <a:effectLst/>
                <a:uLnTx/>
                <a:uFillTx/>
                <a:latin typeface="Calibri" panose="020F0502020204030204"/>
                <a:ea typeface="+mn-ea"/>
                <a:cs typeface="+mn-cs"/>
              </a:rPr>
              <a:t>dimercount</a:t>
            </a:r>
            <a:r>
              <a:rPr kumimoji="0" lang="en-US" sz="2400" b="1" i="0" u="none" strike="noStrike" kern="1200" cap="none" spc="0" normalizeH="0" baseline="0" noProof="0" dirty="0">
                <a:ln>
                  <a:noFill/>
                </a:ln>
                <a:solidFill>
                  <a:srgbClr val="00B050"/>
                </a:solidFill>
                <a:effectLst/>
                <a:uLnTx/>
                <a:uFillTx/>
                <a:latin typeface="Calibri" panose="020F0502020204030204"/>
                <a:ea typeface="+mn-ea"/>
                <a:cs typeface="+mn-cs"/>
              </a:rPr>
              <a:t>(</a:t>
            </a:r>
            <a:r>
              <a:rPr kumimoji="0" lang="en-US" sz="2400" b="1" i="0" u="none" strike="noStrike" kern="1200" cap="none" spc="0" normalizeH="0" baseline="0" noProof="0" dirty="0" err="1">
                <a:ln>
                  <a:noFill/>
                </a:ln>
                <a:solidFill>
                  <a:srgbClr val="00B050"/>
                </a:solidFill>
                <a:effectLst/>
                <a:uLnTx/>
                <a:uFillTx/>
                <a:latin typeface="Calibri" panose="020F0502020204030204"/>
                <a:ea typeface="+mn-ea"/>
                <a:cs typeface="+mn-cs"/>
              </a:rPr>
              <a:t>mitochondria,'chart','bar</a:t>
            </a:r>
            <a:r>
              <a:rPr kumimoji="0" lang="en-US" sz="2400" b="1" i="0" u="none" strike="noStrike" kern="1200" cap="none" spc="0" normalizeH="0" baseline="0" noProof="0" dirty="0">
                <a:ln>
                  <a:noFill/>
                </a:ln>
                <a:solidFill>
                  <a:srgbClr val="00B050"/>
                </a:solidFill>
                <a:effectLst/>
                <a:uLnTx/>
                <a:uFillTx/>
                <a:latin typeface="Calibri" panose="020F0502020204030204"/>
                <a:ea typeface="+mn-ea"/>
                <a:cs typeface="+mn-cs"/>
              </a:rPr>
              <a:t>’) </a:t>
            </a:r>
            <a:br>
              <a:rPr kumimoji="0" lang="en-US" sz="2400" b="1" i="0" u="none" strike="noStrike" kern="1200" cap="none" spc="0" normalizeH="0" baseline="0" noProof="0" dirty="0">
                <a:ln>
                  <a:noFill/>
                </a:ln>
                <a:solidFill>
                  <a:srgbClr val="00B050"/>
                </a:solidFill>
                <a:effectLst/>
                <a:uLnTx/>
                <a:uFillTx/>
                <a:latin typeface="Calibri" panose="020F0502020204030204"/>
                <a:ea typeface="+mn-ea"/>
                <a:cs typeface="+mn-cs"/>
              </a:rPr>
            </a:br>
            <a:endParaRPr lang="en-IN" dirty="0"/>
          </a:p>
        </p:txBody>
      </p:sp>
      <p:pic>
        <p:nvPicPr>
          <p:cNvPr id="5" name="Content Placeholder 4">
            <a:extLst>
              <a:ext uri="{FF2B5EF4-FFF2-40B4-BE49-F238E27FC236}">
                <a16:creationId xmlns:a16="http://schemas.microsoft.com/office/drawing/2014/main" id="{B5FB0D3A-AC32-AA19-1066-8222E0E54087}"/>
              </a:ext>
            </a:extLst>
          </p:cNvPr>
          <p:cNvPicPr>
            <a:picLocks noGrp="1" noChangeAspect="1"/>
          </p:cNvPicPr>
          <p:nvPr>
            <p:ph idx="1"/>
          </p:nvPr>
        </p:nvPicPr>
        <p:blipFill>
          <a:blip r:embed="rId2"/>
          <a:stretch>
            <a:fillRect/>
          </a:stretch>
        </p:blipFill>
        <p:spPr>
          <a:xfrm>
            <a:off x="3177974" y="1079862"/>
            <a:ext cx="6464466" cy="5123226"/>
          </a:xfrm>
        </p:spPr>
      </p:pic>
    </p:spTree>
    <p:extLst>
      <p:ext uri="{BB962C8B-B14F-4D97-AF65-F5344CB8AC3E}">
        <p14:creationId xmlns:p14="http://schemas.microsoft.com/office/powerpoint/2010/main" val="1155941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6CBF7-9724-7842-515A-C18924EC0D8C}"/>
              </a:ext>
            </a:extLst>
          </p:cNvPr>
          <p:cNvSpPr>
            <a:spLocks noGrp="1"/>
          </p:cNvSpPr>
          <p:nvPr>
            <p:ph type="title"/>
          </p:nvPr>
        </p:nvSpPr>
        <p:spPr/>
        <p:txBody>
          <a:bodyPr/>
          <a:lstStyle/>
          <a:p>
            <a:pPr algn="ctr"/>
            <a:r>
              <a:rPr lang="en-IN" b="1" dirty="0">
                <a:solidFill>
                  <a:srgbClr val="FF0000"/>
                </a:solidFill>
              </a:rPr>
              <a:t>Determining Codon Composition</a:t>
            </a:r>
          </a:p>
        </p:txBody>
      </p:sp>
      <p:sp>
        <p:nvSpPr>
          <p:cNvPr id="3" name="Content Placeholder 2">
            <a:extLst>
              <a:ext uri="{FF2B5EF4-FFF2-40B4-BE49-F238E27FC236}">
                <a16:creationId xmlns:a16="http://schemas.microsoft.com/office/drawing/2014/main" id="{28A45F45-3981-E01B-A664-0CEE38362C18}"/>
              </a:ext>
            </a:extLst>
          </p:cNvPr>
          <p:cNvSpPr>
            <a:spLocks noGrp="1"/>
          </p:cNvSpPr>
          <p:nvPr>
            <p:ph idx="1"/>
          </p:nvPr>
        </p:nvSpPr>
        <p:spPr/>
        <p:txBody>
          <a:bodyPr/>
          <a:lstStyle/>
          <a:p>
            <a:pPr algn="just"/>
            <a:r>
              <a:rPr lang="en-US" dirty="0"/>
              <a:t>Trinucleotides (codon) code for an amino acid, and there are 64 possible codons in a nucleotide sequence. Knowing the percent of codons in your sequence can be helpful when you are comparing with tables for expected codon usage.</a:t>
            </a:r>
          </a:p>
          <a:p>
            <a:pPr algn="just"/>
            <a:r>
              <a:rPr lang="en-US" dirty="0"/>
              <a:t>1 Count codons in a nucleotide sequence. In the MATLAB Command Window, type </a:t>
            </a:r>
          </a:p>
          <a:p>
            <a:pPr marL="0" indent="0" algn="just">
              <a:buNone/>
            </a:pPr>
            <a:r>
              <a:rPr lang="en-US" dirty="0">
                <a:solidFill>
                  <a:srgbClr val="00B0F0"/>
                </a:solidFill>
              </a:rPr>
              <a:t>            </a:t>
            </a:r>
            <a:r>
              <a:rPr lang="en-US" b="1" dirty="0" err="1">
                <a:solidFill>
                  <a:srgbClr val="00B050"/>
                </a:solidFill>
              </a:rPr>
              <a:t>codoncount</a:t>
            </a:r>
            <a:r>
              <a:rPr lang="en-US" b="1" dirty="0">
                <a:solidFill>
                  <a:srgbClr val="00B050"/>
                </a:solidFill>
              </a:rPr>
              <a:t>(mitochondria) </a:t>
            </a:r>
          </a:p>
          <a:p>
            <a:pPr algn="just"/>
            <a:r>
              <a:rPr lang="en-US" dirty="0"/>
              <a:t>MATLAB displays the codon counts for the first reading frame</a:t>
            </a:r>
            <a:endParaRPr lang="en-IN" dirty="0"/>
          </a:p>
        </p:txBody>
      </p:sp>
    </p:spTree>
    <p:extLst>
      <p:ext uri="{BB962C8B-B14F-4D97-AF65-F5344CB8AC3E}">
        <p14:creationId xmlns:p14="http://schemas.microsoft.com/office/powerpoint/2010/main" val="215370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8321B-A8F7-7256-8FAB-D4BC1E5EF79B}"/>
              </a:ext>
            </a:extLst>
          </p:cNvPr>
          <p:cNvSpPr>
            <a:spLocks noGrp="1"/>
          </p:cNvSpPr>
          <p:nvPr>
            <p:ph type="title"/>
          </p:nvPr>
        </p:nvSpPr>
        <p:spPr/>
        <p:txBody>
          <a:bodyPr/>
          <a:lstStyle/>
          <a:p>
            <a:pPr algn="ctr"/>
            <a:r>
              <a:rPr lang="en-US" b="1" dirty="0" err="1">
                <a:solidFill>
                  <a:srgbClr val="00B050"/>
                </a:solidFill>
              </a:rPr>
              <a:t>codoncount</a:t>
            </a:r>
            <a:r>
              <a:rPr lang="en-US" b="1" dirty="0">
                <a:solidFill>
                  <a:srgbClr val="00B050"/>
                </a:solidFill>
              </a:rPr>
              <a:t>(mitochondria) </a:t>
            </a:r>
            <a:br>
              <a:rPr lang="en-US" b="1" dirty="0">
                <a:solidFill>
                  <a:srgbClr val="00B050"/>
                </a:solidFill>
              </a:rPr>
            </a:br>
            <a:endParaRPr lang="en-IN" dirty="0"/>
          </a:p>
        </p:txBody>
      </p:sp>
      <p:pic>
        <p:nvPicPr>
          <p:cNvPr id="9" name="Content Placeholder 8">
            <a:extLst>
              <a:ext uri="{FF2B5EF4-FFF2-40B4-BE49-F238E27FC236}">
                <a16:creationId xmlns:a16="http://schemas.microsoft.com/office/drawing/2014/main" id="{C866ADC5-5DC8-2765-F0B7-E810C25A8D4E}"/>
              </a:ext>
            </a:extLst>
          </p:cNvPr>
          <p:cNvPicPr>
            <a:picLocks noGrp="1" noChangeAspect="1"/>
          </p:cNvPicPr>
          <p:nvPr>
            <p:ph idx="1"/>
          </p:nvPr>
        </p:nvPicPr>
        <p:blipFill>
          <a:blip r:embed="rId2"/>
          <a:stretch>
            <a:fillRect/>
          </a:stretch>
        </p:blipFill>
        <p:spPr>
          <a:xfrm>
            <a:off x="3692435" y="1179717"/>
            <a:ext cx="4997246" cy="4997246"/>
          </a:xfrm>
        </p:spPr>
      </p:pic>
    </p:spTree>
    <p:extLst>
      <p:ext uri="{BB962C8B-B14F-4D97-AF65-F5344CB8AC3E}">
        <p14:creationId xmlns:p14="http://schemas.microsoft.com/office/powerpoint/2010/main" val="3921438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221B3-5AD4-6CFD-DBD3-BC4603325FDC}"/>
              </a:ext>
            </a:extLst>
          </p:cNvPr>
          <p:cNvSpPr>
            <a:spLocks noGrp="1"/>
          </p:cNvSpPr>
          <p:nvPr>
            <p:ph type="title"/>
          </p:nvPr>
        </p:nvSpPr>
        <p:spPr/>
        <p:txBody>
          <a:bodyPr/>
          <a:lstStyle/>
          <a:p>
            <a:pPr algn="ctr"/>
            <a:r>
              <a:rPr lang="en-IN" b="1" dirty="0">
                <a:solidFill>
                  <a:srgbClr val="FF0000"/>
                </a:solidFill>
              </a:rPr>
              <a:t>Determining Codon Composition</a:t>
            </a:r>
            <a:endParaRPr lang="en-IN" dirty="0"/>
          </a:p>
        </p:txBody>
      </p:sp>
      <p:sp>
        <p:nvSpPr>
          <p:cNvPr id="3" name="Content Placeholder 2">
            <a:extLst>
              <a:ext uri="{FF2B5EF4-FFF2-40B4-BE49-F238E27FC236}">
                <a16:creationId xmlns:a16="http://schemas.microsoft.com/office/drawing/2014/main" id="{AADE2C5B-AA48-9CAA-3781-E806E7A0BF99}"/>
              </a:ext>
            </a:extLst>
          </p:cNvPr>
          <p:cNvSpPr>
            <a:spLocks noGrp="1"/>
          </p:cNvSpPr>
          <p:nvPr>
            <p:ph idx="1"/>
          </p:nvPr>
        </p:nvSpPr>
        <p:spPr/>
        <p:txBody>
          <a:bodyPr>
            <a:normAutofit fontScale="85000" lnSpcReduction="20000"/>
          </a:bodyPr>
          <a:lstStyle/>
          <a:p>
            <a:r>
              <a:rPr lang="en-IN" dirty="0"/>
              <a:t>2 Count the codons in all six reading frames and plot the results in a heat map. </a:t>
            </a:r>
          </a:p>
          <a:p>
            <a:pPr marL="0" indent="0">
              <a:buNone/>
            </a:pPr>
            <a:r>
              <a:rPr lang="en-IN" b="1" dirty="0">
                <a:solidFill>
                  <a:srgbClr val="00B050"/>
                </a:solidFill>
              </a:rPr>
              <a:t>for frame = 1:3 </a:t>
            </a:r>
          </a:p>
          <a:p>
            <a:pPr marL="0" indent="0">
              <a:buNone/>
            </a:pPr>
            <a:r>
              <a:rPr lang="en-IN" b="1" dirty="0">
                <a:solidFill>
                  <a:srgbClr val="00B050"/>
                </a:solidFill>
              </a:rPr>
              <a:t>figure('</a:t>
            </a:r>
            <a:r>
              <a:rPr lang="en-IN" b="1" dirty="0" err="1">
                <a:solidFill>
                  <a:srgbClr val="00B050"/>
                </a:solidFill>
              </a:rPr>
              <a:t>color</a:t>
            </a:r>
            <a:r>
              <a:rPr lang="en-IN" b="1" dirty="0">
                <a:solidFill>
                  <a:srgbClr val="00B050"/>
                </a:solidFill>
              </a:rPr>
              <a:t>',[1 1 1]) </a:t>
            </a:r>
          </a:p>
          <a:p>
            <a:pPr marL="0" indent="0">
              <a:buNone/>
            </a:pPr>
            <a:r>
              <a:rPr lang="en-IN" b="1" dirty="0">
                <a:solidFill>
                  <a:srgbClr val="00B050"/>
                </a:solidFill>
              </a:rPr>
              <a:t>subplot(2,1,1); </a:t>
            </a:r>
          </a:p>
          <a:p>
            <a:pPr marL="0" indent="0">
              <a:buNone/>
            </a:pPr>
            <a:r>
              <a:rPr lang="en-IN" b="1" dirty="0" err="1">
                <a:solidFill>
                  <a:srgbClr val="00B050"/>
                </a:solidFill>
              </a:rPr>
              <a:t>codoncount</a:t>
            </a:r>
            <a:r>
              <a:rPr lang="en-IN" b="1" dirty="0">
                <a:solidFill>
                  <a:srgbClr val="00B050"/>
                </a:solidFill>
              </a:rPr>
              <a:t>(</a:t>
            </a:r>
            <a:r>
              <a:rPr lang="en-IN" b="1" dirty="0" err="1">
                <a:solidFill>
                  <a:srgbClr val="00B050"/>
                </a:solidFill>
              </a:rPr>
              <a:t>mitochondria,'frame',frame,'figure',true</a:t>
            </a:r>
            <a:r>
              <a:rPr lang="en-IN" b="1" dirty="0">
                <a:solidFill>
                  <a:srgbClr val="00B050"/>
                </a:solidFill>
              </a:rPr>
              <a:t>); </a:t>
            </a:r>
          </a:p>
          <a:p>
            <a:pPr marL="0" indent="0">
              <a:buNone/>
            </a:pPr>
            <a:r>
              <a:rPr lang="en-IN" b="1" dirty="0">
                <a:solidFill>
                  <a:srgbClr val="00B050"/>
                </a:solidFill>
              </a:rPr>
              <a:t>title(</a:t>
            </a:r>
            <a:r>
              <a:rPr lang="en-IN" b="1" dirty="0" err="1">
                <a:solidFill>
                  <a:srgbClr val="00B050"/>
                </a:solidFill>
              </a:rPr>
              <a:t>sprintf</a:t>
            </a:r>
            <a:r>
              <a:rPr lang="en-IN" b="1" dirty="0">
                <a:solidFill>
                  <a:srgbClr val="00B050"/>
                </a:solidFill>
              </a:rPr>
              <a:t>('Codons for frame %</a:t>
            </a:r>
            <a:r>
              <a:rPr lang="en-IN" b="1" dirty="0" err="1">
                <a:solidFill>
                  <a:srgbClr val="00B050"/>
                </a:solidFill>
              </a:rPr>
              <a:t>d',frame</a:t>
            </a:r>
            <a:r>
              <a:rPr lang="en-IN" b="1" dirty="0">
                <a:solidFill>
                  <a:srgbClr val="00B050"/>
                </a:solidFill>
              </a:rPr>
              <a:t>)); </a:t>
            </a:r>
          </a:p>
          <a:p>
            <a:pPr marL="0" indent="0">
              <a:buNone/>
            </a:pPr>
            <a:r>
              <a:rPr lang="en-IN" b="1" dirty="0">
                <a:solidFill>
                  <a:srgbClr val="00B050"/>
                </a:solidFill>
              </a:rPr>
              <a:t>subplot(2,1,2); </a:t>
            </a:r>
          </a:p>
          <a:p>
            <a:pPr marL="0" indent="0">
              <a:buNone/>
            </a:pPr>
            <a:r>
              <a:rPr lang="en-IN" b="1" dirty="0" err="1">
                <a:solidFill>
                  <a:srgbClr val="00B050"/>
                </a:solidFill>
              </a:rPr>
              <a:t>codoncount</a:t>
            </a:r>
            <a:r>
              <a:rPr lang="en-IN" b="1" dirty="0">
                <a:solidFill>
                  <a:srgbClr val="00B050"/>
                </a:solidFill>
              </a:rPr>
              <a:t>(</a:t>
            </a:r>
            <a:r>
              <a:rPr lang="en-IN" b="1" dirty="0" err="1">
                <a:solidFill>
                  <a:srgbClr val="00B050"/>
                </a:solidFill>
              </a:rPr>
              <a:t>mitochondria,'reverse',true</a:t>
            </a:r>
            <a:r>
              <a:rPr lang="en-IN" b="1" dirty="0">
                <a:solidFill>
                  <a:srgbClr val="00B050"/>
                </a:solidFill>
              </a:rPr>
              <a:t>, '</a:t>
            </a:r>
            <a:r>
              <a:rPr lang="en-IN" b="1" dirty="0" err="1">
                <a:solidFill>
                  <a:srgbClr val="00B050"/>
                </a:solidFill>
              </a:rPr>
              <a:t>frame',frame</a:t>
            </a:r>
            <a:r>
              <a:rPr lang="en-IN" b="1" dirty="0">
                <a:solidFill>
                  <a:srgbClr val="00B050"/>
                </a:solidFill>
              </a:rPr>
              <a:t>, '</a:t>
            </a:r>
            <a:r>
              <a:rPr lang="en-IN" b="1" dirty="0" err="1">
                <a:solidFill>
                  <a:srgbClr val="00B050"/>
                </a:solidFill>
              </a:rPr>
              <a:t>figure',true</a:t>
            </a:r>
            <a:r>
              <a:rPr lang="en-IN" b="1" dirty="0">
                <a:solidFill>
                  <a:srgbClr val="00B050"/>
                </a:solidFill>
              </a:rPr>
              <a:t>); title(</a:t>
            </a:r>
            <a:r>
              <a:rPr lang="en-IN" b="1" dirty="0" err="1">
                <a:solidFill>
                  <a:srgbClr val="00B050"/>
                </a:solidFill>
              </a:rPr>
              <a:t>sprintf</a:t>
            </a:r>
            <a:r>
              <a:rPr lang="en-IN" b="1" dirty="0">
                <a:solidFill>
                  <a:srgbClr val="00B050"/>
                </a:solidFill>
              </a:rPr>
              <a:t>('Codons for reverse frame %</a:t>
            </a:r>
            <a:r>
              <a:rPr lang="en-IN" b="1" dirty="0" err="1">
                <a:solidFill>
                  <a:srgbClr val="00B050"/>
                </a:solidFill>
              </a:rPr>
              <a:t>d',frame</a:t>
            </a:r>
            <a:r>
              <a:rPr lang="en-IN" b="1" dirty="0">
                <a:solidFill>
                  <a:srgbClr val="00B050"/>
                </a:solidFill>
              </a:rPr>
              <a:t>)); </a:t>
            </a:r>
          </a:p>
          <a:p>
            <a:pPr marL="0" indent="0">
              <a:buNone/>
            </a:pPr>
            <a:r>
              <a:rPr lang="en-IN" b="1" dirty="0">
                <a:solidFill>
                  <a:srgbClr val="00B050"/>
                </a:solidFill>
              </a:rPr>
              <a:t> end </a:t>
            </a:r>
          </a:p>
          <a:p>
            <a:r>
              <a:rPr lang="en-IN" dirty="0"/>
              <a:t>MATLAB draws heat maps to visualize all 64 codons in the six reading frames</a:t>
            </a:r>
          </a:p>
        </p:txBody>
      </p:sp>
    </p:spTree>
    <p:extLst>
      <p:ext uri="{BB962C8B-B14F-4D97-AF65-F5344CB8AC3E}">
        <p14:creationId xmlns:p14="http://schemas.microsoft.com/office/powerpoint/2010/main" val="2551233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3D20C-A0CB-DBF4-E9AD-5E842127269B}"/>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455B3442-9005-ACD0-7939-B11A3E9DC5DD}"/>
              </a:ext>
            </a:extLst>
          </p:cNvPr>
          <p:cNvPicPr>
            <a:picLocks noGrp="1" noChangeAspect="1"/>
          </p:cNvPicPr>
          <p:nvPr>
            <p:ph idx="1"/>
          </p:nvPr>
        </p:nvPicPr>
        <p:blipFill>
          <a:blip r:embed="rId2"/>
          <a:stretch>
            <a:fillRect/>
          </a:stretch>
        </p:blipFill>
        <p:spPr>
          <a:xfrm>
            <a:off x="838200" y="24173"/>
            <a:ext cx="4356671" cy="6637181"/>
          </a:xfrm>
        </p:spPr>
      </p:pic>
      <p:pic>
        <p:nvPicPr>
          <p:cNvPr id="4" name="Picture 3">
            <a:extLst>
              <a:ext uri="{FF2B5EF4-FFF2-40B4-BE49-F238E27FC236}">
                <a16:creationId xmlns:a16="http://schemas.microsoft.com/office/drawing/2014/main" id="{A0D6F053-8FC1-D4AA-0C7B-A2D60D26BB2A}"/>
              </a:ext>
            </a:extLst>
          </p:cNvPr>
          <p:cNvPicPr>
            <a:picLocks noChangeAspect="1"/>
          </p:cNvPicPr>
          <p:nvPr/>
        </p:nvPicPr>
        <p:blipFill>
          <a:blip r:embed="rId3"/>
          <a:stretch>
            <a:fillRect/>
          </a:stretch>
        </p:blipFill>
        <p:spPr>
          <a:xfrm>
            <a:off x="6156960" y="1235665"/>
            <a:ext cx="4876800" cy="3933825"/>
          </a:xfrm>
          <a:prstGeom prst="rect">
            <a:avLst/>
          </a:prstGeom>
        </p:spPr>
      </p:pic>
    </p:spTree>
    <p:extLst>
      <p:ext uri="{BB962C8B-B14F-4D97-AF65-F5344CB8AC3E}">
        <p14:creationId xmlns:p14="http://schemas.microsoft.com/office/powerpoint/2010/main" val="2718500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4774E-6A26-E9F2-B3C0-9E05DF347EA7}"/>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836E65E-6825-098E-2E96-566102E84FCA}"/>
              </a:ext>
            </a:extLst>
          </p:cNvPr>
          <p:cNvPicPr>
            <a:picLocks noGrp="1" noChangeAspect="1"/>
          </p:cNvPicPr>
          <p:nvPr>
            <p:ph idx="1"/>
          </p:nvPr>
        </p:nvPicPr>
        <p:blipFill>
          <a:blip r:embed="rId2"/>
          <a:stretch>
            <a:fillRect/>
          </a:stretch>
        </p:blipFill>
        <p:spPr>
          <a:xfrm>
            <a:off x="1343655" y="494892"/>
            <a:ext cx="9350199" cy="2194090"/>
          </a:xfrm>
        </p:spPr>
      </p:pic>
      <p:pic>
        <p:nvPicPr>
          <p:cNvPr id="7" name="Picture 6">
            <a:extLst>
              <a:ext uri="{FF2B5EF4-FFF2-40B4-BE49-F238E27FC236}">
                <a16:creationId xmlns:a16="http://schemas.microsoft.com/office/drawing/2014/main" id="{8982EB89-3F42-1B92-C6C7-D6F83FBDD40F}"/>
              </a:ext>
            </a:extLst>
          </p:cNvPr>
          <p:cNvPicPr>
            <a:picLocks noChangeAspect="1"/>
          </p:cNvPicPr>
          <p:nvPr/>
        </p:nvPicPr>
        <p:blipFill>
          <a:blip r:embed="rId3"/>
          <a:stretch>
            <a:fillRect/>
          </a:stretch>
        </p:blipFill>
        <p:spPr>
          <a:xfrm>
            <a:off x="1498146" y="2557490"/>
            <a:ext cx="7688910" cy="4191477"/>
          </a:xfrm>
          <a:prstGeom prst="rect">
            <a:avLst/>
          </a:prstGeom>
        </p:spPr>
      </p:pic>
    </p:spTree>
    <p:extLst>
      <p:ext uri="{BB962C8B-B14F-4D97-AF65-F5344CB8AC3E}">
        <p14:creationId xmlns:p14="http://schemas.microsoft.com/office/powerpoint/2010/main" val="28557136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382A9-F0EB-2FA6-9BDC-238BFF1AB2A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D482EF46-3D57-017A-D591-9A21C052C451}"/>
              </a:ext>
            </a:extLst>
          </p:cNvPr>
          <p:cNvPicPr>
            <a:picLocks noGrp="1" noChangeAspect="1"/>
          </p:cNvPicPr>
          <p:nvPr>
            <p:ph idx="1"/>
          </p:nvPr>
        </p:nvPicPr>
        <p:blipFill>
          <a:blip r:embed="rId2"/>
          <a:stretch>
            <a:fillRect/>
          </a:stretch>
        </p:blipFill>
        <p:spPr>
          <a:xfrm>
            <a:off x="2106364" y="1690688"/>
            <a:ext cx="8498041" cy="3120231"/>
          </a:xfrm>
        </p:spPr>
      </p:pic>
    </p:spTree>
    <p:extLst>
      <p:ext uri="{BB962C8B-B14F-4D97-AF65-F5344CB8AC3E}">
        <p14:creationId xmlns:p14="http://schemas.microsoft.com/office/powerpoint/2010/main" val="2156676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BA2F9-EC22-5DCA-3C62-575714781F7E}"/>
              </a:ext>
            </a:extLst>
          </p:cNvPr>
          <p:cNvSpPr>
            <a:spLocks noGrp="1"/>
          </p:cNvSpPr>
          <p:nvPr>
            <p:ph type="title"/>
          </p:nvPr>
        </p:nvSpPr>
        <p:spPr/>
        <p:txBody>
          <a:bodyPr/>
          <a:lstStyle/>
          <a:p>
            <a:endParaRPr lang="en-US" dirty="0"/>
          </a:p>
        </p:txBody>
      </p:sp>
      <p:pic>
        <p:nvPicPr>
          <p:cNvPr id="5" name="Content Placeholder 4">
            <a:extLst>
              <a:ext uri="{FF2B5EF4-FFF2-40B4-BE49-F238E27FC236}">
                <a16:creationId xmlns:a16="http://schemas.microsoft.com/office/drawing/2014/main" id="{53D1E965-0F80-2433-4F4E-39E0EF332DBB}"/>
              </a:ext>
            </a:extLst>
          </p:cNvPr>
          <p:cNvPicPr>
            <a:picLocks noGrp="1" noChangeAspect="1"/>
          </p:cNvPicPr>
          <p:nvPr>
            <p:ph idx="1"/>
          </p:nvPr>
        </p:nvPicPr>
        <p:blipFill>
          <a:blip r:embed="rId2"/>
          <a:stretch>
            <a:fillRect/>
          </a:stretch>
        </p:blipFill>
        <p:spPr>
          <a:xfrm>
            <a:off x="3228391" y="643641"/>
            <a:ext cx="6552939" cy="5766587"/>
          </a:xfrm>
        </p:spPr>
      </p:pic>
    </p:spTree>
    <p:extLst>
      <p:ext uri="{BB962C8B-B14F-4D97-AF65-F5344CB8AC3E}">
        <p14:creationId xmlns:p14="http://schemas.microsoft.com/office/powerpoint/2010/main" val="2103967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61778-6DED-F140-411A-EB17470E4119}"/>
              </a:ext>
            </a:extLst>
          </p:cNvPr>
          <p:cNvSpPr>
            <a:spLocks noGrp="1"/>
          </p:cNvSpPr>
          <p:nvPr>
            <p:ph type="title"/>
          </p:nvPr>
        </p:nvSpPr>
        <p:spPr/>
        <p:txBody>
          <a:bodyPr/>
          <a:lstStyle/>
          <a:p>
            <a:pPr algn="ctr"/>
            <a:r>
              <a:rPr lang="en-IN" b="1" dirty="0">
                <a:solidFill>
                  <a:srgbClr val="FF0000"/>
                </a:solidFill>
              </a:rPr>
              <a:t>Sequence Manipulation</a:t>
            </a:r>
          </a:p>
        </p:txBody>
      </p:sp>
      <p:sp>
        <p:nvSpPr>
          <p:cNvPr id="3" name="Content Placeholder 2">
            <a:extLst>
              <a:ext uri="{FF2B5EF4-FFF2-40B4-BE49-F238E27FC236}">
                <a16:creationId xmlns:a16="http://schemas.microsoft.com/office/drawing/2014/main" id="{77ADCF37-B4A2-26D1-E332-D4B0C008B512}"/>
              </a:ext>
            </a:extLst>
          </p:cNvPr>
          <p:cNvSpPr>
            <a:spLocks noGrp="1"/>
          </p:cNvSpPr>
          <p:nvPr>
            <p:ph idx="1"/>
          </p:nvPr>
        </p:nvSpPr>
        <p:spPr/>
        <p:txBody>
          <a:bodyPr/>
          <a:lstStyle/>
          <a:p>
            <a:r>
              <a:rPr lang="en-IN" dirty="0"/>
              <a:t> The toolbox provides routines for common operations such as converting DNA or RNA sequences to amino acid sequences that are basic to working with nucleic acid or protein sequences </a:t>
            </a:r>
          </a:p>
          <a:p>
            <a:r>
              <a:rPr lang="en-IN" b="1" dirty="0">
                <a:solidFill>
                  <a:srgbClr val="00B050"/>
                </a:solidFill>
              </a:rPr>
              <a:t> </a:t>
            </a:r>
            <a:endParaRPr lang="en-IN" dirty="0"/>
          </a:p>
        </p:txBody>
      </p:sp>
      <p:graphicFrame>
        <p:nvGraphicFramePr>
          <p:cNvPr id="4" name="Table 3">
            <a:extLst>
              <a:ext uri="{FF2B5EF4-FFF2-40B4-BE49-F238E27FC236}">
                <a16:creationId xmlns:a16="http://schemas.microsoft.com/office/drawing/2014/main" id="{87FE38B1-E8F4-B940-1D6C-298202C0D4F9}"/>
              </a:ext>
            </a:extLst>
          </p:cNvPr>
          <p:cNvGraphicFramePr>
            <a:graphicFrameLocks noGrp="1"/>
          </p:cNvGraphicFramePr>
          <p:nvPr>
            <p:extLst>
              <p:ext uri="{D42A27DB-BD31-4B8C-83A1-F6EECF244321}">
                <p14:modId xmlns:p14="http://schemas.microsoft.com/office/powerpoint/2010/main" val="1665476726"/>
              </p:ext>
            </p:extLst>
          </p:nvPr>
        </p:nvGraphicFramePr>
        <p:xfrm>
          <a:off x="444137" y="3518462"/>
          <a:ext cx="9387840" cy="1431300"/>
        </p:xfrm>
        <a:graphic>
          <a:graphicData uri="http://schemas.openxmlformats.org/drawingml/2006/table">
            <a:tbl>
              <a:tblPr firstRow="1" bandRow="1">
                <a:tableStyleId>{5C22544A-7EE6-4342-B048-85BDC9FD1C3A}</a:tableStyleId>
              </a:tblPr>
              <a:tblGrid>
                <a:gridCol w="1254034">
                  <a:extLst>
                    <a:ext uri="{9D8B030D-6E8A-4147-A177-3AD203B41FA5}">
                      <a16:colId xmlns:a16="http://schemas.microsoft.com/office/drawing/2014/main" val="2656398803"/>
                    </a:ext>
                  </a:extLst>
                </a:gridCol>
                <a:gridCol w="1147193">
                  <a:extLst>
                    <a:ext uri="{9D8B030D-6E8A-4147-A177-3AD203B41FA5}">
                      <a16:colId xmlns:a16="http://schemas.microsoft.com/office/drawing/2014/main" val="65995163"/>
                    </a:ext>
                  </a:extLst>
                </a:gridCol>
                <a:gridCol w="1488430">
                  <a:extLst>
                    <a:ext uri="{9D8B030D-6E8A-4147-A177-3AD203B41FA5}">
                      <a16:colId xmlns:a16="http://schemas.microsoft.com/office/drawing/2014/main" val="1521931727"/>
                    </a:ext>
                  </a:extLst>
                </a:gridCol>
                <a:gridCol w="2565696">
                  <a:extLst>
                    <a:ext uri="{9D8B030D-6E8A-4147-A177-3AD203B41FA5}">
                      <a16:colId xmlns:a16="http://schemas.microsoft.com/office/drawing/2014/main" val="3594230363"/>
                    </a:ext>
                  </a:extLst>
                </a:gridCol>
                <a:gridCol w="2932487">
                  <a:extLst>
                    <a:ext uri="{9D8B030D-6E8A-4147-A177-3AD203B41FA5}">
                      <a16:colId xmlns:a16="http://schemas.microsoft.com/office/drawing/2014/main" val="2571972235"/>
                    </a:ext>
                  </a:extLst>
                </a:gridCol>
              </a:tblGrid>
              <a:tr h="365849">
                <a:tc>
                  <a:txBody>
                    <a:bodyPr/>
                    <a:lstStyle/>
                    <a:p>
                      <a:r>
                        <a:rPr lang="en-IN" sz="2800" b="1" dirty="0">
                          <a:solidFill>
                            <a:schemeClr val="bg2">
                              <a:lumMod val="10000"/>
                            </a:schemeClr>
                          </a:solidFill>
                        </a:rPr>
                        <a:t>aa2int</a:t>
                      </a:r>
                      <a:endParaRPr lang="en-IN" sz="2800" dirty="0">
                        <a:solidFill>
                          <a:schemeClr val="bg2">
                            <a:lumMod val="10000"/>
                          </a:schemeClr>
                        </a:solidFill>
                      </a:endParaRPr>
                    </a:p>
                  </a:txBody>
                  <a:tcPr marT="37785" marB="37785"/>
                </a:tc>
                <a:tc>
                  <a:txBody>
                    <a:bodyPr/>
                    <a:lstStyle/>
                    <a:p>
                      <a:r>
                        <a:rPr lang="en-IN" sz="2800" b="1" dirty="0">
                          <a:solidFill>
                            <a:schemeClr val="tx1"/>
                          </a:solidFill>
                        </a:rPr>
                        <a:t>aa2nt</a:t>
                      </a:r>
                      <a:endParaRPr lang="en-IN" sz="2800" dirty="0">
                        <a:solidFill>
                          <a:schemeClr val="tx1"/>
                        </a:solidFill>
                      </a:endParaRPr>
                    </a:p>
                  </a:txBody>
                  <a:tcPr marT="37785" marB="37785"/>
                </a:tc>
                <a:tc>
                  <a:txBody>
                    <a:bodyPr/>
                    <a:lstStyle/>
                    <a:p>
                      <a:r>
                        <a:rPr lang="en-IN" sz="2800" b="1" dirty="0">
                          <a:solidFill>
                            <a:schemeClr val="tx1"/>
                          </a:solidFill>
                        </a:rPr>
                        <a:t>dna2rna</a:t>
                      </a:r>
                      <a:endParaRPr lang="en-IN" sz="2800" dirty="0">
                        <a:solidFill>
                          <a:schemeClr val="tx1"/>
                        </a:solidFill>
                      </a:endParaRPr>
                    </a:p>
                  </a:txBody>
                  <a:tcPr marT="37785" marB="37785"/>
                </a:tc>
                <a:tc>
                  <a:txBody>
                    <a:bodyPr/>
                    <a:lstStyle/>
                    <a:p>
                      <a:r>
                        <a:rPr lang="en-IN" sz="2800" b="1" dirty="0">
                          <a:solidFill>
                            <a:schemeClr val="tx1"/>
                          </a:solidFill>
                        </a:rPr>
                        <a:t>rna2dna</a:t>
                      </a:r>
                      <a:endParaRPr lang="en-IN" sz="2800" dirty="0">
                        <a:solidFill>
                          <a:schemeClr val="tx1"/>
                        </a:solidFill>
                      </a:endParaRPr>
                    </a:p>
                  </a:txBody>
                  <a:tcPr marT="37785" marB="37785"/>
                </a:tc>
                <a:tc>
                  <a:txBody>
                    <a:bodyPr/>
                    <a:lstStyle/>
                    <a:p>
                      <a:r>
                        <a:rPr lang="en-IN" sz="2800" b="1" dirty="0">
                          <a:solidFill>
                            <a:schemeClr val="tx1"/>
                          </a:solidFill>
                        </a:rPr>
                        <a:t>int2aa</a:t>
                      </a:r>
                      <a:endParaRPr lang="en-IN" sz="2800" dirty="0">
                        <a:solidFill>
                          <a:schemeClr val="tx1"/>
                        </a:solidFill>
                      </a:endParaRPr>
                    </a:p>
                  </a:txBody>
                  <a:tcPr marT="37785" marB="37785"/>
                </a:tc>
                <a:extLst>
                  <a:ext uri="{0D108BD9-81ED-4DB2-BD59-A6C34878D82A}">
                    <a16:rowId xmlns:a16="http://schemas.microsoft.com/office/drawing/2014/main" val="4099074622"/>
                  </a:ext>
                </a:extLst>
              </a:tr>
              <a:tr h="528992">
                <a:tc>
                  <a:txBody>
                    <a:bodyPr/>
                    <a:lstStyle/>
                    <a:p>
                      <a:r>
                        <a:rPr lang="en-IN" sz="2800" b="1" dirty="0">
                          <a:solidFill>
                            <a:schemeClr val="tx1"/>
                          </a:solidFill>
                        </a:rPr>
                        <a:t>int2nt</a:t>
                      </a:r>
                      <a:endParaRPr lang="en-IN" sz="2800" dirty="0">
                        <a:solidFill>
                          <a:schemeClr val="tx1"/>
                        </a:solidFill>
                      </a:endParaRPr>
                    </a:p>
                  </a:txBody>
                  <a:tcPr marT="37785" marB="37785"/>
                </a:tc>
                <a:tc>
                  <a:txBody>
                    <a:bodyPr/>
                    <a:lstStyle/>
                    <a:p>
                      <a:r>
                        <a:rPr lang="en-IN" sz="2800" b="1" dirty="0">
                          <a:solidFill>
                            <a:schemeClr val="tx1"/>
                          </a:solidFill>
                        </a:rPr>
                        <a:t>nt2aa</a:t>
                      </a:r>
                      <a:endParaRPr lang="en-IN" sz="2800" dirty="0">
                        <a:solidFill>
                          <a:schemeClr val="tx1"/>
                        </a:solidFill>
                      </a:endParaRPr>
                    </a:p>
                  </a:txBody>
                  <a:tcPr marT="37785" marB="37785"/>
                </a:tc>
                <a:tc>
                  <a:txBody>
                    <a:bodyPr/>
                    <a:lstStyle/>
                    <a:p>
                      <a:r>
                        <a:rPr lang="en-IN" sz="2800" b="1" dirty="0">
                          <a:solidFill>
                            <a:schemeClr val="tx1"/>
                          </a:solidFill>
                        </a:rPr>
                        <a:t>nt2int</a:t>
                      </a:r>
                      <a:endParaRPr lang="en-IN" sz="2800" dirty="0">
                        <a:solidFill>
                          <a:schemeClr val="tx1"/>
                        </a:solidFill>
                      </a:endParaRPr>
                    </a:p>
                  </a:txBody>
                  <a:tcPr marT="37785" marB="37785"/>
                </a:tc>
                <a:tc>
                  <a:txBody>
                    <a:bodyPr/>
                    <a:lstStyle/>
                    <a:p>
                      <a:r>
                        <a:rPr lang="en-IN" sz="2800" b="1" dirty="0" err="1">
                          <a:solidFill>
                            <a:schemeClr val="tx1"/>
                          </a:solidFill>
                        </a:rPr>
                        <a:t>seqcomplement</a:t>
                      </a:r>
                      <a:endParaRPr lang="en-IN" sz="2800" dirty="0">
                        <a:solidFill>
                          <a:schemeClr val="tx1"/>
                        </a:solidFill>
                      </a:endParaRPr>
                    </a:p>
                  </a:txBody>
                  <a:tcPr marT="37785" marB="37785"/>
                </a:tc>
                <a:tc>
                  <a:txBody>
                    <a:bodyPr/>
                    <a:lstStyle/>
                    <a:p>
                      <a:r>
                        <a:rPr lang="en-IN" sz="2800" b="1" dirty="0" err="1">
                          <a:solidFill>
                            <a:schemeClr val="tx1"/>
                          </a:solidFill>
                        </a:rPr>
                        <a:t>seqrcomplement</a:t>
                      </a:r>
                      <a:endParaRPr lang="en-IN" sz="2800" b="1" dirty="0">
                        <a:solidFill>
                          <a:schemeClr val="tx1"/>
                        </a:solidFill>
                      </a:endParaRPr>
                    </a:p>
                    <a:p>
                      <a:r>
                        <a:rPr lang="en-IN" sz="2800" b="1" dirty="0" err="1">
                          <a:solidFill>
                            <a:schemeClr val="tx1"/>
                          </a:solidFill>
                        </a:rPr>
                        <a:t>seqreverse</a:t>
                      </a:r>
                      <a:endParaRPr lang="en-IN" sz="2800" dirty="0">
                        <a:solidFill>
                          <a:schemeClr val="tx1"/>
                        </a:solidFill>
                      </a:endParaRPr>
                    </a:p>
                  </a:txBody>
                  <a:tcPr marT="37785" marB="37785"/>
                </a:tc>
                <a:extLst>
                  <a:ext uri="{0D108BD9-81ED-4DB2-BD59-A6C34878D82A}">
                    <a16:rowId xmlns:a16="http://schemas.microsoft.com/office/drawing/2014/main" val="2242026427"/>
                  </a:ext>
                </a:extLst>
              </a:tr>
            </a:tbl>
          </a:graphicData>
        </a:graphic>
      </p:graphicFrame>
    </p:spTree>
    <p:extLst>
      <p:ext uri="{BB962C8B-B14F-4D97-AF65-F5344CB8AC3E}">
        <p14:creationId xmlns:p14="http://schemas.microsoft.com/office/powerpoint/2010/main" val="39135466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FDE87-57F1-961E-C619-96ED683CAE59}"/>
              </a:ext>
            </a:extLst>
          </p:cNvPr>
          <p:cNvSpPr>
            <a:spLocks noGrp="1"/>
          </p:cNvSpPr>
          <p:nvPr>
            <p:ph type="title"/>
          </p:nvPr>
        </p:nvSpPr>
        <p:spPr>
          <a:xfrm>
            <a:off x="838199" y="1"/>
            <a:ext cx="10515600" cy="1013988"/>
          </a:xfrm>
        </p:spPr>
        <p:txBody>
          <a:bodyPr/>
          <a:lstStyle/>
          <a:p>
            <a:pPr algn="ctr"/>
            <a:r>
              <a:rPr lang="en-US" b="1" dirty="0">
                <a:solidFill>
                  <a:srgbClr val="FF0000"/>
                </a:solidFill>
              </a:rPr>
              <a:t>Sequence Conversion</a:t>
            </a:r>
          </a:p>
        </p:txBody>
      </p:sp>
      <p:pic>
        <p:nvPicPr>
          <p:cNvPr id="5" name="Content Placeholder 4">
            <a:extLst>
              <a:ext uri="{FF2B5EF4-FFF2-40B4-BE49-F238E27FC236}">
                <a16:creationId xmlns:a16="http://schemas.microsoft.com/office/drawing/2014/main" id="{075C6D2B-6DC8-EF0D-56B7-FCD4080CD624}"/>
              </a:ext>
            </a:extLst>
          </p:cNvPr>
          <p:cNvPicPr>
            <a:picLocks noGrp="1" noChangeAspect="1"/>
          </p:cNvPicPr>
          <p:nvPr>
            <p:ph idx="1"/>
          </p:nvPr>
        </p:nvPicPr>
        <p:blipFill>
          <a:blip r:embed="rId2"/>
          <a:stretch>
            <a:fillRect/>
          </a:stretch>
        </p:blipFill>
        <p:spPr>
          <a:xfrm>
            <a:off x="3363235" y="1013989"/>
            <a:ext cx="5465530" cy="5235403"/>
          </a:xfrm>
        </p:spPr>
      </p:pic>
    </p:spTree>
    <p:extLst>
      <p:ext uri="{BB962C8B-B14F-4D97-AF65-F5344CB8AC3E}">
        <p14:creationId xmlns:p14="http://schemas.microsoft.com/office/powerpoint/2010/main" val="3366474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B65BB-1930-63CB-D142-F74B394D036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635CBB1-640F-308D-C34A-D45CA9E3C139}"/>
              </a:ext>
            </a:extLst>
          </p:cNvPr>
          <p:cNvPicPr>
            <a:picLocks noGrp="1" noChangeAspect="1"/>
          </p:cNvPicPr>
          <p:nvPr>
            <p:ph idx="1"/>
          </p:nvPr>
        </p:nvPicPr>
        <p:blipFill>
          <a:blip r:embed="rId2"/>
          <a:stretch>
            <a:fillRect/>
          </a:stretch>
        </p:blipFill>
        <p:spPr>
          <a:xfrm>
            <a:off x="2124087" y="508016"/>
            <a:ext cx="6810265" cy="1376881"/>
          </a:xfrm>
        </p:spPr>
      </p:pic>
      <p:pic>
        <p:nvPicPr>
          <p:cNvPr id="7" name="Picture 6">
            <a:extLst>
              <a:ext uri="{FF2B5EF4-FFF2-40B4-BE49-F238E27FC236}">
                <a16:creationId xmlns:a16="http://schemas.microsoft.com/office/drawing/2014/main" id="{FCB6E11E-712F-7C32-3576-2E5CA31952BB}"/>
              </a:ext>
            </a:extLst>
          </p:cNvPr>
          <p:cNvPicPr>
            <a:picLocks noChangeAspect="1"/>
          </p:cNvPicPr>
          <p:nvPr/>
        </p:nvPicPr>
        <p:blipFill>
          <a:blip r:embed="rId3"/>
          <a:stretch>
            <a:fillRect/>
          </a:stretch>
        </p:blipFill>
        <p:spPr>
          <a:xfrm>
            <a:off x="2325053" y="2435290"/>
            <a:ext cx="5620256" cy="3226253"/>
          </a:xfrm>
          <a:prstGeom prst="rect">
            <a:avLst/>
          </a:prstGeom>
        </p:spPr>
      </p:pic>
    </p:spTree>
    <p:extLst>
      <p:ext uri="{BB962C8B-B14F-4D97-AF65-F5344CB8AC3E}">
        <p14:creationId xmlns:p14="http://schemas.microsoft.com/office/powerpoint/2010/main" val="35283102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E0528-064D-A41A-8186-3ACE6D464362}"/>
              </a:ext>
            </a:extLst>
          </p:cNvPr>
          <p:cNvSpPr>
            <a:spLocks noGrp="1"/>
          </p:cNvSpPr>
          <p:nvPr>
            <p:ph type="title"/>
          </p:nvPr>
        </p:nvSpPr>
        <p:spPr/>
        <p:txBody>
          <a:bodyPr/>
          <a:lstStyle/>
          <a:p>
            <a:pPr algn="ctr"/>
            <a:r>
              <a:rPr lang="en-US" b="1" dirty="0">
                <a:solidFill>
                  <a:srgbClr val="FF0000"/>
                </a:solidFill>
              </a:rPr>
              <a:t>nt2aa</a:t>
            </a:r>
          </a:p>
        </p:txBody>
      </p:sp>
      <p:pic>
        <p:nvPicPr>
          <p:cNvPr id="4" name="Content Placeholder 3">
            <a:extLst>
              <a:ext uri="{FF2B5EF4-FFF2-40B4-BE49-F238E27FC236}">
                <a16:creationId xmlns:a16="http://schemas.microsoft.com/office/drawing/2014/main" id="{DA10699F-4D36-3191-5ACE-962ECAD9F50B}"/>
              </a:ext>
            </a:extLst>
          </p:cNvPr>
          <p:cNvPicPr>
            <a:picLocks noGrp="1" noChangeAspect="1"/>
          </p:cNvPicPr>
          <p:nvPr>
            <p:ph idx="1"/>
          </p:nvPr>
        </p:nvPicPr>
        <p:blipFill>
          <a:blip r:embed="rId2"/>
          <a:stretch>
            <a:fillRect/>
          </a:stretch>
        </p:blipFill>
        <p:spPr>
          <a:xfrm>
            <a:off x="182379" y="1734154"/>
            <a:ext cx="12754431" cy="3389691"/>
          </a:xfrm>
          <a:prstGeom prst="rect">
            <a:avLst/>
          </a:prstGeom>
        </p:spPr>
      </p:pic>
    </p:spTree>
    <p:extLst>
      <p:ext uri="{BB962C8B-B14F-4D97-AF65-F5344CB8AC3E}">
        <p14:creationId xmlns:p14="http://schemas.microsoft.com/office/powerpoint/2010/main" val="41242767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6B964-F607-079A-1E6D-F3D5B90CF30B}"/>
              </a:ext>
            </a:extLst>
          </p:cNvPr>
          <p:cNvSpPr>
            <a:spLocks noGrp="1"/>
          </p:cNvSpPr>
          <p:nvPr>
            <p:ph type="title"/>
          </p:nvPr>
        </p:nvSpPr>
        <p:spPr/>
        <p:txBody>
          <a:bodyPr/>
          <a:lstStyle/>
          <a:p>
            <a:pPr algn="ctr"/>
            <a:r>
              <a:rPr lang="en-US" b="1" dirty="0">
                <a:solidFill>
                  <a:srgbClr val="FF0000"/>
                </a:solidFill>
              </a:rPr>
              <a:t>aa2nt</a:t>
            </a:r>
          </a:p>
        </p:txBody>
      </p:sp>
      <p:pic>
        <p:nvPicPr>
          <p:cNvPr id="5" name="Content Placeholder 4">
            <a:extLst>
              <a:ext uri="{FF2B5EF4-FFF2-40B4-BE49-F238E27FC236}">
                <a16:creationId xmlns:a16="http://schemas.microsoft.com/office/drawing/2014/main" id="{C2843DAC-13BD-8A0C-BFCB-B964AF49BC4C}"/>
              </a:ext>
            </a:extLst>
          </p:cNvPr>
          <p:cNvPicPr>
            <a:picLocks noGrp="1" noChangeAspect="1"/>
          </p:cNvPicPr>
          <p:nvPr>
            <p:ph idx="1"/>
          </p:nvPr>
        </p:nvPicPr>
        <p:blipFill>
          <a:blip r:embed="rId2"/>
          <a:stretch>
            <a:fillRect/>
          </a:stretch>
        </p:blipFill>
        <p:spPr>
          <a:xfrm>
            <a:off x="1169095" y="1557196"/>
            <a:ext cx="8093542" cy="2463252"/>
          </a:xfrm>
        </p:spPr>
      </p:pic>
      <p:pic>
        <p:nvPicPr>
          <p:cNvPr id="7" name="Picture 6">
            <a:extLst>
              <a:ext uri="{FF2B5EF4-FFF2-40B4-BE49-F238E27FC236}">
                <a16:creationId xmlns:a16="http://schemas.microsoft.com/office/drawing/2014/main" id="{BEEAAF90-2B2B-6B16-02C5-F8F68DB5F1E9}"/>
              </a:ext>
            </a:extLst>
          </p:cNvPr>
          <p:cNvPicPr>
            <a:picLocks noChangeAspect="1"/>
          </p:cNvPicPr>
          <p:nvPr/>
        </p:nvPicPr>
        <p:blipFill>
          <a:blip r:embed="rId3"/>
          <a:stretch>
            <a:fillRect/>
          </a:stretch>
        </p:blipFill>
        <p:spPr>
          <a:xfrm>
            <a:off x="863449" y="4200808"/>
            <a:ext cx="8743645" cy="1827619"/>
          </a:xfrm>
          <a:prstGeom prst="rect">
            <a:avLst/>
          </a:prstGeom>
        </p:spPr>
      </p:pic>
    </p:spTree>
    <p:extLst>
      <p:ext uri="{BB962C8B-B14F-4D97-AF65-F5344CB8AC3E}">
        <p14:creationId xmlns:p14="http://schemas.microsoft.com/office/powerpoint/2010/main" val="38191108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9844D-3610-87DD-23B3-1AD2919F503E}"/>
              </a:ext>
            </a:extLst>
          </p:cNvPr>
          <p:cNvSpPr>
            <a:spLocks noGrp="1"/>
          </p:cNvSpPr>
          <p:nvPr>
            <p:ph type="title"/>
          </p:nvPr>
        </p:nvSpPr>
        <p:spPr/>
        <p:txBody>
          <a:bodyPr/>
          <a:lstStyle/>
          <a:p>
            <a:r>
              <a:rPr lang="en-US" b="1" dirty="0" err="1">
                <a:solidFill>
                  <a:srgbClr val="FF0000"/>
                </a:solidFill>
              </a:rPr>
              <a:t>aacount</a:t>
            </a:r>
            <a:endParaRPr lang="en-US" b="1" dirty="0">
              <a:solidFill>
                <a:srgbClr val="FF0000"/>
              </a:solidFill>
            </a:endParaRPr>
          </a:p>
        </p:txBody>
      </p:sp>
      <p:pic>
        <p:nvPicPr>
          <p:cNvPr id="5" name="Content Placeholder 4">
            <a:extLst>
              <a:ext uri="{FF2B5EF4-FFF2-40B4-BE49-F238E27FC236}">
                <a16:creationId xmlns:a16="http://schemas.microsoft.com/office/drawing/2014/main" id="{268DA831-6883-7C6B-FDAC-5A2C2C3A7E33}"/>
              </a:ext>
            </a:extLst>
          </p:cNvPr>
          <p:cNvPicPr>
            <a:picLocks noGrp="1" noChangeAspect="1"/>
          </p:cNvPicPr>
          <p:nvPr>
            <p:ph idx="1"/>
          </p:nvPr>
        </p:nvPicPr>
        <p:blipFill>
          <a:blip r:embed="rId2"/>
          <a:stretch>
            <a:fillRect/>
          </a:stretch>
        </p:blipFill>
        <p:spPr>
          <a:xfrm>
            <a:off x="3947311" y="1027906"/>
            <a:ext cx="4939409" cy="5783257"/>
          </a:xfrm>
        </p:spPr>
      </p:pic>
    </p:spTree>
    <p:extLst>
      <p:ext uri="{BB962C8B-B14F-4D97-AF65-F5344CB8AC3E}">
        <p14:creationId xmlns:p14="http://schemas.microsoft.com/office/powerpoint/2010/main" val="42849445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53113-CD75-6BFF-E6B8-B79D982264D2}"/>
              </a:ext>
            </a:extLst>
          </p:cNvPr>
          <p:cNvSpPr>
            <a:spLocks noGrp="1"/>
          </p:cNvSpPr>
          <p:nvPr>
            <p:ph type="title"/>
          </p:nvPr>
        </p:nvSpPr>
        <p:spPr/>
        <p:txBody>
          <a:bodyPr/>
          <a:lstStyle/>
          <a:p>
            <a:pPr algn="ctr"/>
            <a:r>
              <a:rPr lang="en-US" b="1" dirty="0" err="1">
                <a:solidFill>
                  <a:srgbClr val="FF0000"/>
                </a:solidFill>
              </a:rPr>
              <a:t>aminolookup</a:t>
            </a:r>
            <a:endParaRPr lang="en-US" b="1" dirty="0">
              <a:solidFill>
                <a:srgbClr val="FF0000"/>
              </a:solidFill>
            </a:endParaRPr>
          </a:p>
        </p:txBody>
      </p:sp>
      <p:pic>
        <p:nvPicPr>
          <p:cNvPr id="5" name="Content Placeholder 4">
            <a:extLst>
              <a:ext uri="{FF2B5EF4-FFF2-40B4-BE49-F238E27FC236}">
                <a16:creationId xmlns:a16="http://schemas.microsoft.com/office/drawing/2014/main" id="{7E55F2A8-BD2B-26E1-8D34-32FD3B455C57}"/>
              </a:ext>
            </a:extLst>
          </p:cNvPr>
          <p:cNvPicPr>
            <a:picLocks noGrp="1" noChangeAspect="1"/>
          </p:cNvPicPr>
          <p:nvPr>
            <p:ph idx="1"/>
          </p:nvPr>
        </p:nvPicPr>
        <p:blipFill>
          <a:blip r:embed="rId2"/>
          <a:stretch>
            <a:fillRect/>
          </a:stretch>
        </p:blipFill>
        <p:spPr>
          <a:xfrm>
            <a:off x="2552841" y="1886838"/>
            <a:ext cx="5800725" cy="933450"/>
          </a:xfrm>
        </p:spPr>
      </p:pic>
      <p:pic>
        <p:nvPicPr>
          <p:cNvPr id="7" name="Picture 6">
            <a:extLst>
              <a:ext uri="{FF2B5EF4-FFF2-40B4-BE49-F238E27FC236}">
                <a16:creationId xmlns:a16="http://schemas.microsoft.com/office/drawing/2014/main" id="{1A9E5F87-2CEE-C097-301F-A7B2414D586A}"/>
              </a:ext>
            </a:extLst>
          </p:cNvPr>
          <p:cNvPicPr>
            <a:picLocks noChangeAspect="1"/>
          </p:cNvPicPr>
          <p:nvPr/>
        </p:nvPicPr>
        <p:blipFill>
          <a:blip r:embed="rId3"/>
          <a:stretch>
            <a:fillRect/>
          </a:stretch>
        </p:blipFill>
        <p:spPr>
          <a:xfrm>
            <a:off x="2552841" y="3111893"/>
            <a:ext cx="6496050" cy="2752725"/>
          </a:xfrm>
          <a:prstGeom prst="rect">
            <a:avLst/>
          </a:prstGeom>
        </p:spPr>
      </p:pic>
    </p:spTree>
    <p:extLst>
      <p:ext uri="{BB962C8B-B14F-4D97-AF65-F5344CB8AC3E}">
        <p14:creationId xmlns:p14="http://schemas.microsoft.com/office/powerpoint/2010/main" val="3507569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E8F80-41A5-7C3D-CD3C-693B9274A7A2}"/>
              </a:ext>
            </a:extLst>
          </p:cNvPr>
          <p:cNvSpPr>
            <a:spLocks noGrp="1"/>
          </p:cNvSpPr>
          <p:nvPr>
            <p:ph type="title"/>
          </p:nvPr>
        </p:nvSpPr>
        <p:spPr>
          <a:xfrm>
            <a:off x="838200" y="18255"/>
            <a:ext cx="10515600" cy="1325563"/>
          </a:xfrm>
        </p:spPr>
        <p:txBody>
          <a:bodyPr/>
          <a:lstStyle/>
          <a:p>
            <a:pPr algn="ctr"/>
            <a:r>
              <a:rPr lang="en-US" b="1" dirty="0">
                <a:solidFill>
                  <a:srgbClr val="FF0000"/>
                </a:solidFill>
              </a:rPr>
              <a:t>dna2rna</a:t>
            </a:r>
          </a:p>
        </p:txBody>
      </p:sp>
      <p:pic>
        <p:nvPicPr>
          <p:cNvPr id="5" name="Content Placeholder 4">
            <a:extLst>
              <a:ext uri="{FF2B5EF4-FFF2-40B4-BE49-F238E27FC236}">
                <a16:creationId xmlns:a16="http://schemas.microsoft.com/office/drawing/2014/main" id="{02DCD178-382E-2FD2-1A20-91876DFC59E5}"/>
              </a:ext>
            </a:extLst>
          </p:cNvPr>
          <p:cNvPicPr>
            <a:picLocks noGrp="1" noChangeAspect="1"/>
          </p:cNvPicPr>
          <p:nvPr>
            <p:ph idx="1"/>
          </p:nvPr>
        </p:nvPicPr>
        <p:blipFill>
          <a:blip r:embed="rId2"/>
          <a:stretch>
            <a:fillRect/>
          </a:stretch>
        </p:blipFill>
        <p:spPr>
          <a:xfrm>
            <a:off x="3048395" y="869132"/>
            <a:ext cx="6575438" cy="5850279"/>
          </a:xfrm>
        </p:spPr>
      </p:pic>
    </p:spTree>
    <p:extLst>
      <p:ext uri="{BB962C8B-B14F-4D97-AF65-F5344CB8AC3E}">
        <p14:creationId xmlns:p14="http://schemas.microsoft.com/office/powerpoint/2010/main" val="1815639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5EF88B-8EEC-5EF1-58BD-DBD074E9651C}"/>
              </a:ext>
            </a:extLst>
          </p:cNvPr>
          <p:cNvSpPr>
            <a:spLocks noGrp="1"/>
          </p:cNvSpPr>
          <p:nvPr>
            <p:ph type="title"/>
          </p:nvPr>
        </p:nvSpPr>
        <p:spPr>
          <a:xfrm>
            <a:off x="838200" y="0"/>
            <a:ext cx="10515600" cy="1325563"/>
          </a:xfrm>
        </p:spPr>
        <p:txBody>
          <a:bodyPr/>
          <a:lstStyle/>
          <a:p>
            <a:pPr algn="ctr"/>
            <a:r>
              <a:rPr lang="en-US" b="1" dirty="0">
                <a:solidFill>
                  <a:srgbClr val="FF0000"/>
                </a:solidFill>
              </a:rPr>
              <a:t>rna2dna</a:t>
            </a:r>
          </a:p>
        </p:txBody>
      </p:sp>
      <p:pic>
        <p:nvPicPr>
          <p:cNvPr id="5" name="Content Placeholder 4">
            <a:extLst>
              <a:ext uri="{FF2B5EF4-FFF2-40B4-BE49-F238E27FC236}">
                <a16:creationId xmlns:a16="http://schemas.microsoft.com/office/drawing/2014/main" id="{2333D85C-3F7E-DCB9-AD89-10E0C08018C7}"/>
              </a:ext>
            </a:extLst>
          </p:cNvPr>
          <p:cNvPicPr>
            <a:picLocks noGrp="1" noChangeAspect="1"/>
          </p:cNvPicPr>
          <p:nvPr>
            <p:ph idx="1"/>
          </p:nvPr>
        </p:nvPicPr>
        <p:blipFill>
          <a:blip r:embed="rId2"/>
          <a:stretch>
            <a:fillRect/>
          </a:stretch>
        </p:blipFill>
        <p:spPr>
          <a:xfrm>
            <a:off x="2658482" y="977775"/>
            <a:ext cx="7262384" cy="5362151"/>
          </a:xfrm>
        </p:spPr>
      </p:pic>
    </p:spTree>
    <p:extLst>
      <p:ext uri="{BB962C8B-B14F-4D97-AF65-F5344CB8AC3E}">
        <p14:creationId xmlns:p14="http://schemas.microsoft.com/office/powerpoint/2010/main" val="34298008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0FB36-1238-C01F-7F1F-E658AF15A989}"/>
              </a:ext>
            </a:extLst>
          </p:cNvPr>
          <p:cNvSpPr>
            <a:spLocks noGrp="1"/>
          </p:cNvSpPr>
          <p:nvPr>
            <p:ph type="title"/>
          </p:nvPr>
        </p:nvSpPr>
        <p:spPr/>
        <p:txBody>
          <a:bodyPr>
            <a:normAutofit/>
          </a:bodyPr>
          <a:lstStyle/>
          <a:p>
            <a:pPr algn="ctr"/>
            <a:r>
              <a:rPr lang="en-US" sz="4000" b="1" i="0" u="none" strike="noStrike" baseline="0" dirty="0">
                <a:solidFill>
                  <a:srgbClr val="FF0000"/>
                </a:solidFill>
                <a:latin typeface="NewCenturySchlbk-Roman"/>
              </a:rPr>
              <a:t>Sequence Analysis</a:t>
            </a:r>
            <a:endParaRPr lang="en-US" sz="4000" b="1" dirty="0">
              <a:solidFill>
                <a:srgbClr val="FF0000"/>
              </a:solidFill>
            </a:endParaRPr>
          </a:p>
        </p:txBody>
      </p:sp>
      <p:sp>
        <p:nvSpPr>
          <p:cNvPr id="3" name="Content Placeholder 2">
            <a:extLst>
              <a:ext uri="{FF2B5EF4-FFF2-40B4-BE49-F238E27FC236}">
                <a16:creationId xmlns:a16="http://schemas.microsoft.com/office/drawing/2014/main" id="{A292CBC4-B656-C788-2C81-4E341D88FCE9}"/>
              </a:ext>
            </a:extLst>
          </p:cNvPr>
          <p:cNvSpPr>
            <a:spLocks noGrp="1"/>
          </p:cNvSpPr>
          <p:nvPr>
            <p:ph idx="1"/>
          </p:nvPr>
        </p:nvSpPr>
        <p:spPr/>
        <p:txBody>
          <a:bodyPr>
            <a:normAutofit/>
          </a:bodyPr>
          <a:lstStyle/>
          <a:p>
            <a:pPr algn="just"/>
            <a:r>
              <a:rPr lang="en-US" sz="2800" b="0" i="0" u="none" strike="noStrike" baseline="0" dirty="0">
                <a:solidFill>
                  <a:srgbClr val="0070C0"/>
                </a:solidFill>
                <a:latin typeface="NewCenturySchlbk-Roman"/>
              </a:rPr>
              <a:t>Sequence analysis is the process you use to find information about a nucleotide or amino acid sequence using computational methods. </a:t>
            </a:r>
          </a:p>
          <a:p>
            <a:pPr algn="just"/>
            <a:r>
              <a:rPr lang="en-US" sz="2800" b="0" i="0" u="none" strike="noStrike" baseline="0" dirty="0">
                <a:solidFill>
                  <a:srgbClr val="00B050"/>
                </a:solidFill>
                <a:latin typeface="NewCenturySchlbk-Roman"/>
              </a:rPr>
              <a:t>Common tasks in sequence analysis are -</a:t>
            </a:r>
          </a:p>
          <a:p>
            <a:pPr marL="0" indent="0" algn="just">
              <a:buNone/>
            </a:pPr>
            <a:r>
              <a:rPr lang="en-US" dirty="0">
                <a:latin typeface="NewCenturySchlbk-Roman"/>
              </a:rPr>
              <a:t>(a) </a:t>
            </a:r>
            <a:r>
              <a:rPr lang="en-US" sz="2800" b="0" i="0" u="none" strike="noStrike" baseline="0" dirty="0">
                <a:latin typeface="NewCenturySchlbk-Roman"/>
              </a:rPr>
              <a:t>identifying genes</a:t>
            </a:r>
          </a:p>
          <a:p>
            <a:pPr marL="0" indent="0" algn="just">
              <a:buNone/>
            </a:pPr>
            <a:r>
              <a:rPr lang="en-US" dirty="0">
                <a:latin typeface="NewCenturySchlbk-Roman"/>
              </a:rPr>
              <a:t>(b)</a:t>
            </a:r>
            <a:r>
              <a:rPr lang="en-US" sz="2800" b="0" i="0" u="none" strike="noStrike" baseline="0" dirty="0">
                <a:latin typeface="NewCenturySchlbk-Roman"/>
              </a:rPr>
              <a:t> determining the similarity of two genes</a:t>
            </a:r>
          </a:p>
          <a:p>
            <a:pPr marL="0" indent="0" algn="just">
              <a:buNone/>
            </a:pPr>
            <a:r>
              <a:rPr lang="en-US" dirty="0">
                <a:latin typeface="NewCenturySchlbk-Roman"/>
              </a:rPr>
              <a:t>(c)</a:t>
            </a:r>
            <a:r>
              <a:rPr lang="en-US" sz="2800" b="0" i="0" u="none" strike="noStrike" baseline="0" dirty="0">
                <a:latin typeface="NewCenturySchlbk-Roman"/>
              </a:rPr>
              <a:t> determining the protein coded by a gene, and</a:t>
            </a:r>
          </a:p>
          <a:p>
            <a:pPr marL="0" indent="0" algn="just">
              <a:buNone/>
            </a:pPr>
            <a:r>
              <a:rPr lang="en-US" sz="2800" b="0" i="0" u="none" strike="noStrike" baseline="0" dirty="0">
                <a:latin typeface="NewCenturySchlbk-Roman"/>
              </a:rPr>
              <a:t>(d) determining the function of a gene by finding a similar gene in another organism with a know function.</a:t>
            </a:r>
            <a:endParaRPr lang="en-US" dirty="0"/>
          </a:p>
        </p:txBody>
      </p:sp>
    </p:spTree>
    <p:extLst>
      <p:ext uri="{BB962C8B-B14F-4D97-AF65-F5344CB8AC3E}">
        <p14:creationId xmlns:p14="http://schemas.microsoft.com/office/powerpoint/2010/main" val="31664777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080B-868A-4EA6-C7BE-40786A8E1AAA}"/>
              </a:ext>
            </a:extLst>
          </p:cNvPr>
          <p:cNvSpPr>
            <a:spLocks noGrp="1"/>
          </p:cNvSpPr>
          <p:nvPr>
            <p:ph type="title"/>
          </p:nvPr>
        </p:nvSpPr>
        <p:spPr>
          <a:xfrm>
            <a:off x="765772" y="0"/>
            <a:ext cx="10515600" cy="1325563"/>
          </a:xfrm>
        </p:spPr>
        <p:txBody>
          <a:bodyPr/>
          <a:lstStyle/>
          <a:p>
            <a:pPr algn="ctr"/>
            <a:r>
              <a:rPr lang="en-US" b="1" dirty="0">
                <a:solidFill>
                  <a:srgbClr val="FF0000"/>
                </a:solidFill>
              </a:rPr>
              <a:t>Atomic Composition of a Protein</a:t>
            </a:r>
          </a:p>
        </p:txBody>
      </p:sp>
      <p:pic>
        <p:nvPicPr>
          <p:cNvPr id="4" name="Content Placeholder 3">
            <a:extLst>
              <a:ext uri="{FF2B5EF4-FFF2-40B4-BE49-F238E27FC236}">
                <a16:creationId xmlns:a16="http://schemas.microsoft.com/office/drawing/2014/main" id="{188B524A-2FBE-90BD-4783-B67183B4884E}"/>
              </a:ext>
            </a:extLst>
          </p:cNvPr>
          <p:cNvPicPr>
            <a:picLocks noGrp="1" noChangeAspect="1"/>
          </p:cNvPicPr>
          <p:nvPr>
            <p:ph idx="1"/>
          </p:nvPr>
        </p:nvPicPr>
        <p:blipFill>
          <a:blip r:embed="rId2"/>
          <a:stretch>
            <a:fillRect/>
          </a:stretch>
        </p:blipFill>
        <p:spPr>
          <a:xfrm>
            <a:off x="3220121" y="1240326"/>
            <a:ext cx="5774590" cy="5121604"/>
          </a:xfrm>
          <a:prstGeom prst="rect">
            <a:avLst/>
          </a:prstGeom>
        </p:spPr>
      </p:pic>
    </p:spTree>
    <p:extLst>
      <p:ext uri="{BB962C8B-B14F-4D97-AF65-F5344CB8AC3E}">
        <p14:creationId xmlns:p14="http://schemas.microsoft.com/office/powerpoint/2010/main" val="26375910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AA5C6-7CED-5457-FAD1-5745C643510A}"/>
              </a:ext>
            </a:extLst>
          </p:cNvPr>
          <p:cNvSpPr>
            <a:spLocks noGrp="1"/>
          </p:cNvSpPr>
          <p:nvPr>
            <p:ph type="title"/>
          </p:nvPr>
        </p:nvSpPr>
        <p:spPr>
          <a:xfrm>
            <a:off x="838200" y="-159976"/>
            <a:ext cx="10515600" cy="1325563"/>
          </a:xfrm>
        </p:spPr>
        <p:txBody>
          <a:bodyPr>
            <a:normAutofit/>
          </a:bodyPr>
          <a:lstStyle/>
          <a:p>
            <a:r>
              <a:rPr lang="en-US" sz="4000" b="1" dirty="0">
                <a:solidFill>
                  <a:srgbClr val="FF0000"/>
                </a:solidFill>
              </a:rPr>
              <a:t>Molecular Weight of an Amino Acid Sequence</a:t>
            </a:r>
          </a:p>
        </p:txBody>
      </p:sp>
      <p:pic>
        <p:nvPicPr>
          <p:cNvPr id="5" name="Content Placeholder 4">
            <a:extLst>
              <a:ext uri="{FF2B5EF4-FFF2-40B4-BE49-F238E27FC236}">
                <a16:creationId xmlns:a16="http://schemas.microsoft.com/office/drawing/2014/main" id="{C82BBE40-9B48-4985-CE1D-99F47C8ADAE9}"/>
              </a:ext>
            </a:extLst>
          </p:cNvPr>
          <p:cNvPicPr>
            <a:picLocks noGrp="1" noChangeAspect="1"/>
          </p:cNvPicPr>
          <p:nvPr>
            <p:ph idx="1"/>
          </p:nvPr>
        </p:nvPicPr>
        <p:blipFill>
          <a:blip r:embed="rId2"/>
          <a:stretch>
            <a:fillRect/>
          </a:stretch>
        </p:blipFill>
        <p:spPr>
          <a:xfrm>
            <a:off x="2533716" y="878186"/>
            <a:ext cx="7911990" cy="5552274"/>
          </a:xfrm>
        </p:spPr>
      </p:pic>
    </p:spTree>
    <p:extLst>
      <p:ext uri="{BB962C8B-B14F-4D97-AF65-F5344CB8AC3E}">
        <p14:creationId xmlns:p14="http://schemas.microsoft.com/office/powerpoint/2010/main" val="2085014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4C1A-4219-7BD5-EDED-ADA8CFC6AE0E}"/>
              </a:ext>
            </a:extLst>
          </p:cNvPr>
          <p:cNvSpPr>
            <a:spLocks noGrp="1"/>
          </p:cNvSpPr>
          <p:nvPr>
            <p:ph type="title"/>
          </p:nvPr>
        </p:nvSpPr>
        <p:spPr>
          <a:xfrm>
            <a:off x="838200" y="0"/>
            <a:ext cx="10515600" cy="757505"/>
          </a:xfrm>
        </p:spPr>
        <p:txBody>
          <a:bodyPr/>
          <a:lstStyle/>
          <a:p>
            <a:pPr algn="ctr"/>
            <a:r>
              <a:rPr lang="en-US" b="1" dirty="0">
                <a:solidFill>
                  <a:srgbClr val="FF0000"/>
                </a:solidFill>
              </a:rPr>
              <a:t>Protein Properties</a:t>
            </a:r>
          </a:p>
        </p:txBody>
      </p:sp>
      <p:pic>
        <p:nvPicPr>
          <p:cNvPr id="5" name="Content Placeholder 4">
            <a:extLst>
              <a:ext uri="{FF2B5EF4-FFF2-40B4-BE49-F238E27FC236}">
                <a16:creationId xmlns:a16="http://schemas.microsoft.com/office/drawing/2014/main" id="{F1130ADE-9358-9D42-F688-47CEC5C2B3A2}"/>
              </a:ext>
            </a:extLst>
          </p:cNvPr>
          <p:cNvPicPr>
            <a:picLocks noGrp="1" noChangeAspect="1"/>
          </p:cNvPicPr>
          <p:nvPr>
            <p:ph idx="1"/>
          </p:nvPr>
        </p:nvPicPr>
        <p:blipFill>
          <a:blip r:embed="rId2"/>
          <a:stretch>
            <a:fillRect/>
          </a:stretch>
        </p:blipFill>
        <p:spPr>
          <a:xfrm>
            <a:off x="2879002" y="578350"/>
            <a:ext cx="6684609" cy="6084514"/>
          </a:xfrm>
        </p:spPr>
      </p:pic>
    </p:spTree>
    <p:extLst>
      <p:ext uri="{BB962C8B-B14F-4D97-AF65-F5344CB8AC3E}">
        <p14:creationId xmlns:p14="http://schemas.microsoft.com/office/powerpoint/2010/main" val="14846749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A06FC-D3E9-39E0-C340-909824369712}"/>
              </a:ext>
            </a:extLst>
          </p:cNvPr>
          <p:cNvSpPr>
            <a:spLocks noGrp="1"/>
          </p:cNvSpPr>
          <p:nvPr>
            <p:ph type="title"/>
          </p:nvPr>
        </p:nvSpPr>
        <p:spPr>
          <a:xfrm>
            <a:off x="838200" y="328912"/>
            <a:ext cx="10515600" cy="612649"/>
          </a:xfrm>
        </p:spPr>
        <p:txBody>
          <a:bodyPr>
            <a:normAutofit fontScale="90000"/>
          </a:bodyPr>
          <a:lstStyle/>
          <a:p>
            <a:pPr algn="ctr"/>
            <a:r>
              <a:rPr lang="en-US" b="1" dirty="0">
                <a:solidFill>
                  <a:srgbClr val="FF0000"/>
                </a:solidFill>
              </a:rPr>
              <a:t>Protein Properties</a:t>
            </a:r>
            <a:endParaRPr lang="en-US" dirty="0"/>
          </a:p>
        </p:txBody>
      </p:sp>
      <p:pic>
        <p:nvPicPr>
          <p:cNvPr id="5" name="Content Placeholder 4">
            <a:extLst>
              <a:ext uri="{FF2B5EF4-FFF2-40B4-BE49-F238E27FC236}">
                <a16:creationId xmlns:a16="http://schemas.microsoft.com/office/drawing/2014/main" id="{5D278E21-F352-B81B-2C84-E70E8546BA26}"/>
              </a:ext>
            </a:extLst>
          </p:cNvPr>
          <p:cNvPicPr>
            <a:picLocks noGrp="1" noChangeAspect="1"/>
          </p:cNvPicPr>
          <p:nvPr>
            <p:ph idx="1"/>
          </p:nvPr>
        </p:nvPicPr>
        <p:blipFill>
          <a:blip r:embed="rId2"/>
          <a:stretch>
            <a:fillRect/>
          </a:stretch>
        </p:blipFill>
        <p:spPr>
          <a:xfrm>
            <a:off x="289711" y="1484114"/>
            <a:ext cx="12068268" cy="3889772"/>
          </a:xfrm>
        </p:spPr>
      </p:pic>
    </p:spTree>
    <p:extLst>
      <p:ext uri="{BB962C8B-B14F-4D97-AF65-F5344CB8AC3E}">
        <p14:creationId xmlns:p14="http://schemas.microsoft.com/office/powerpoint/2010/main" val="2658105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8FC32-976A-09D6-7F4A-7E10FA32F72E}"/>
              </a:ext>
            </a:extLst>
          </p:cNvPr>
          <p:cNvSpPr>
            <a:spLocks noGrp="1"/>
          </p:cNvSpPr>
          <p:nvPr>
            <p:ph type="title"/>
          </p:nvPr>
        </p:nvSpPr>
        <p:spPr>
          <a:xfrm>
            <a:off x="838200" y="138789"/>
            <a:ext cx="10515600" cy="757505"/>
          </a:xfrm>
        </p:spPr>
        <p:txBody>
          <a:bodyPr/>
          <a:lstStyle/>
          <a:p>
            <a:pPr algn="ctr"/>
            <a:r>
              <a:rPr lang="en-US" b="1" dirty="0">
                <a:solidFill>
                  <a:srgbClr val="FF0000"/>
                </a:solidFill>
              </a:rPr>
              <a:t>Reading a Protein Data</a:t>
            </a:r>
          </a:p>
        </p:txBody>
      </p:sp>
      <p:pic>
        <p:nvPicPr>
          <p:cNvPr id="5" name="Content Placeholder 4">
            <a:extLst>
              <a:ext uri="{FF2B5EF4-FFF2-40B4-BE49-F238E27FC236}">
                <a16:creationId xmlns:a16="http://schemas.microsoft.com/office/drawing/2014/main" id="{C66864EF-B13C-B114-E213-F7CD16DCA009}"/>
              </a:ext>
            </a:extLst>
          </p:cNvPr>
          <p:cNvPicPr>
            <a:picLocks noGrp="1" noChangeAspect="1"/>
          </p:cNvPicPr>
          <p:nvPr>
            <p:ph idx="1"/>
          </p:nvPr>
        </p:nvPicPr>
        <p:blipFill>
          <a:blip r:embed="rId2"/>
          <a:stretch>
            <a:fillRect/>
          </a:stretch>
        </p:blipFill>
        <p:spPr>
          <a:xfrm>
            <a:off x="2820548" y="896294"/>
            <a:ext cx="6550904" cy="5280669"/>
          </a:xfrm>
        </p:spPr>
      </p:pic>
    </p:spTree>
    <p:extLst>
      <p:ext uri="{BB962C8B-B14F-4D97-AF65-F5344CB8AC3E}">
        <p14:creationId xmlns:p14="http://schemas.microsoft.com/office/powerpoint/2010/main" val="25036356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7E35D-7E76-BACF-518A-F988A6EFD136}"/>
              </a:ext>
            </a:extLst>
          </p:cNvPr>
          <p:cNvSpPr>
            <a:spLocks noGrp="1"/>
          </p:cNvSpPr>
          <p:nvPr>
            <p:ph type="title"/>
          </p:nvPr>
        </p:nvSpPr>
        <p:spPr/>
        <p:txBody>
          <a:bodyPr/>
          <a:lstStyle/>
          <a:p>
            <a:pPr algn="ctr"/>
            <a:r>
              <a:rPr lang="en-US" dirty="0" err="1">
                <a:solidFill>
                  <a:srgbClr val="FF0000"/>
                </a:solidFill>
              </a:rPr>
              <a:t>GenPeptDATA</a:t>
            </a:r>
            <a:r>
              <a:rPr lang="en-US" dirty="0">
                <a:solidFill>
                  <a:srgbClr val="FF0000"/>
                </a:solidFill>
              </a:rPr>
              <a:t> contains these fields:</a:t>
            </a:r>
          </a:p>
        </p:txBody>
      </p:sp>
      <p:pic>
        <p:nvPicPr>
          <p:cNvPr id="5" name="Content Placeholder 4">
            <a:extLst>
              <a:ext uri="{FF2B5EF4-FFF2-40B4-BE49-F238E27FC236}">
                <a16:creationId xmlns:a16="http://schemas.microsoft.com/office/drawing/2014/main" id="{70B9CFDE-14DF-8192-A0DB-F49E9AD037E1}"/>
              </a:ext>
            </a:extLst>
          </p:cNvPr>
          <p:cNvPicPr>
            <a:picLocks noGrp="1" noChangeAspect="1"/>
          </p:cNvPicPr>
          <p:nvPr>
            <p:ph idx="1"/>
          </p:nvPr>
        </p:nvPicPr>
        <p:blipFill>
          <a:blip r:embed="rId2"/>
          <a:stretch>
            <a:fillRect/>
          </a:stretch>
        </p:blipFill>
        <p:spPr>
          <a:xfrm>
            <a:off x="276902" y="2224842"/>
            <a:ext cx="4644129" cy="2859944"/>
          </a:xfrm>
        </p:spPr>
      </p:pic>
      <p:pic>
        <p:nvPicPr>
          <p:cNvPr id="7" name="Picture 6">
            <a:extLst>
              <a:ext uri="{FF2B5EF4-FFF2-40B4-BE49-F238E27FC236}">
                <a16:creationId xmlns:a16="http://schemas.microsoft.com/office/drawing/2014/main" id="{2D21C963-2C3B-0DC1-6156-E50F8C2C9D27}"/>
              </a:ext>
            </a:extLst>
          </p:cNvPr>
          <p:cNvPicPr>
            <a:picLocks noChangeAspect="1"/>
          </p:cNvPicPr>
          <p:nvPr/>
        </p:nvPicPr>
        <p:blipFill>
          <a:blip r:embed="rId3"/>
          <a:stretch>
            <a:fillRect/>
          </a:stretch>
        </p:blipFill>
        <p:spPr>
          <a:xfrm>
            <a:off x="5703683" y="1404413"/>
            <a:ext cx="3612333" cy="5347391"/>
          </a:xfrm>
          <a:prstGeom prst="rect">
            <a:avLst/>
          </a:prstGeom>
        </p:spPr>
      </p:pic>
    </p:spTree>
    <p:extLst>
      <p:ext uri="{BB962C8B-B14F-4D97-AF65-F5344CB8AC3E}">
        <p14:creationId xmlns:p14="http://schemas.microsoft.com/office/powerpoint/2010/main" val="4128764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20226-C72D-E401-D897-AB11FFC03F9D}"/>
              </a:ext>
            </a:extLst>
          </p:cNvPr>
          <p:cNvSpPr>
            <a:spLocks noGrp="1"/>
          </p:cNvSpPr>
          <p:nvPr>
            <p:ph type="title"/>
          </p:nvPr>
        </p:nvSpPr>
        <p:spPr/>
        <p:txBody>
          <a:bodyPr/>
          <a:lstStyle/>
          <a:p>
            <a:pPr algn="ctr"/>
            <a:r>
              <a:rPr lang="en-US" b="1" dirty="0">
                <a:solidFill>
                  <a:srgbClr val="FF0000"/>
                </a:solidFill>
              </a:rPr>
              <a:t>EXAMPLE</a:t>
            </a:r>
          </a:p>
        </p:txBody>
      </p:sp>
      <p:sp>
        <p:nvSpPr>
          <p:cNvPr id="3" name="Content Placeholder 2">
            <a:extLst>
              <a:ext uri="{FF2B5EF4-FFF2-40B4-BE49-F238E27FC236}">
                <a16:creationId xmlns:a16="http://schemas.microsoft.com/office/drawing/2014/main" id="{8E1F7B1C-199A-3293-695A-C8A4E9E3C872}"/>
              </a:ext>
            </a:extLst>
          </p:cNvPr>
          <p:cNvSpPr>
            <a:spLocks noGrp="1"/>
          </p:cNvSpPr>
          <p:nvPr>
            <p:ph idx="1"/>
          </p:nvPr>
        </p:nvSpPr>
        <p:spPr/>
        <p:txBody>
          <a:bodyPr/>
          <a:lstStyle/>
          <a:p>
            <a:r>
              <a:rPr lang="en-US" dirty="0"/>
              <a:t>Examples Get sequence information for the protein coded by the gene HEXA, save to a file, and then read back into MATLAB.</a:t>
            </a:r>
          </a:p>
          <a:p>
            <a:r>
              <a:rPr lang="en-US" dirty="0" err="1"/>
              <a:t>getgenpept</a:t>
            </a:r>
            <a:r>
              <a:rPr lang="en-US" dirty="0"/>
              <a:t>('p06865', '</a:t>
            </a:r>
            <a:r>
              <a:rPr lang="en-US" dirty="0" err="1"/>
              <a:t>ToFile</a:t>
            </a:r>
            <a:r>
              <a:rPr lang="en-US" dirty="0"/>
              <a:t>', 'TaySachs_Protein.txt')</a:t>
            </a:r>
          </a:p>
          <a:p>
            <a:r>
              <a:rPr lang="en-US" dirty="0" err="1"/>
              <a:t>genpeptread</a:t>
            </a:r>
            <a:r>
              <a:rPr lang="en-US" dirty="0"/>
              <a:t>('TaySachs_Protein.txt')</a:t>
            </a:r>
          </a:p>
        </p:txBody>
      </p:sp>
    </p:spTree>
    <p:extLst>
      <p:ext uri="{BB962C8B-B14F-4D97-AF65-F5344CB8AC3E}">
        <p14:creationId xmlns:p14="http://schemas.microsoft.com/office/powerpoint/2010/main" val="39630761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80E9F-27C2-4F33-0589-F869ED6D0EA5}"/>
              </a:ext>
            </a:extLst>
          </p:cNvPr>
          <p:cNvSpPr>
            <a:spLocks noGrp="1"/>
          </p:cNvSpPr>
          <p:nvPr>
            <p:ph type="title"/>
          </p:nvPr>
        </p:nvSpPr>
        <p:spPr/>
        <p:txBody>
          <a:bodyPr/>
          <a:lstStyle/>
          <a:p>
            <a:pPr algn="ctr"/>
            <a:r>
              <a:rPr lang="en-US" b="1" dirty="0">
                <a:solidFill>
                  <a:srgbClr val="FF0000"/>
                </a:solidFill>
              </a:rPr>
              <a:t>Write to a file using FASTA format</a:t>
            </a:r>
          </a:p>
        </p:txBody>
      </p:sp>
      <p:sp>
        <p:nvSpPr>
          <p:cNvPr id="7" name="Content Placeholder 6">
            <a:extLst>
              <a:ext uri="{FF2B5EF4-FFF2-40B4-BE49-F238E27FC236}">
                <a16:creationId xmlns:a16="http://schemas.microsoft.com/office/drawing/2014/main" id="{1D7B7969-D205-64E2-8477-204644F329C3}"/>
              </a:ext>
            </a:extLst>
          </p:cNvPr>
          <p:cNvSpPr>
            <a:spLocks noGrp="1"/>
          </p:cNvSpPr>
          <p:nvPr>
            <p:ph idx="1"/>
          </p:nvPr>
        </p:nvSpPr>
        <p:spPr/>
        <p:txBody>
          <a:bodyPr>
            <a:normAutofit/>
          </a:bodyPr>
          <a:lstStyle/>
          <a:p>
            <a:r>
              <a:rPr lang="en-US" dirty="0" err="1"/>
              <a:t>fastawrite</a:t>
            </a:r>
            <a:r>
              <a:rPr lang="en-US" dirty="0"/>
              <a:t>('File', Data) writes the contents of Data to a file with a FASTA format</a:t>
            </a:r>
          </a:p>
          <a:p>
            <a:r>
              <a:rPr lang="en-US" dirty="0"/>
              <a:t>.</a:t>
            </a:r>
          </a:p>
        </p:txBody>
      </p:sp>
      <p:pic>
        <p:nvPicPr>
          <p:cNvPr id="9" name="Picture 8">
            <a:extLst>
              <a:ext uri="{FF2B5EF4-FFF2-40B4-BE49-F238E27FC236}">
                <a16:creationId xmlns:a16="http://schemas.microsoft.com/office/drawing/2014/main" id="{2E04C2AE-CEB8-80A0-1AD6-2226B6ADE3A2}"/>
              </a:ext>
            </a:extLst>
          </p:cNvPr>
          <p:cNvPicPr>
            <a:picLocks noChangeAspect="1"/>
          </p:cNvPicPr>
          <p:nvPr/>
        </p:nvPicPr>
        <p:blipFill>
          <a:blip r:embed="rId2"/>
          <a:stretch>
            <a:fillRect/>
          </a:stretch>
        </p:blipFill>
        <p:spPr>
          <a:xfrm>
            <a:off x="2971612" y="2532801"/>
            <a:ext cx="7353300" cy="2190750"/>
          </a:xfrm>
          <a:prstGeom prst="rect">
            <a:avLst/>
          </a:prstGeom>
        </p:spPr>
      </p:pic>
      <p:sp>
        <p:nvSpPr>
          <p:cNvPr id="15" name="TextBox 14">
            <a:extLst>
              <a:ext uri="{FF2B5EF4-FFF2-40B4-BE49-F238E27FC236}">
                <a16:creationId xmlns:a16="http://schemas.microsoft.com/office/drawing/2014/main" id="{F610AD1D-4838-4EF4-A0E2-4B356B4DCEB3}"/>
              </a:ext>
            </a:extLst>
          </p:cNvPr>
          <p:cNvSpPr txBox="1"/>
          <p:nvPr/>
        </p:nvSpPr>
        <p:spPr>
          <a:xfrm>
            <a:off x="4832287" y="4723551"/>
            <a:ext cx="6097508" cy="369332"/>
          </a:xfrm>
          <a:prstGeom prst="rect">
            <a:avLst/>
          </a:prstGeom>
          <a:noFill/>
        </p:spPr>
        <p:txBody>
          <a:bodyPr wrap="square">
            <a:spAutoFit/>
          </a:bodyPr>
          <a:lstStyle/>
          <a:p>
            <a:r>
              <a:rPr lang="en-US" dirty="0" err="1"/>
              <a:t>codingSeq</a:t>
            </a:r>
            <a:r>
              <a:rPr lang="en-US" dirty="0"/>
              <a:t> = </a:t>
            </a:r>
            <a:r>
              <a:rPr lang="en-US" dirty="0" err="1"/>
              <a:t>seq.Sequence</a:t>
            </a:r>
            <a:r>
              <a:rPr lang="en-US" dirty="0"/>
              <a:t>(</a:t>
            </a:r>
            <a:r>
              <a:rPr lang="en-US" dirty="0" err="1"/>
              <a:t>start:stop</a:t>
            </a:r>
            <a:r>
              <a:rPr lang="en-US" dirty="0"/>
              <a:t>)</a:t>
            </a:r>
          </a:p>
        </p:txBody>
      </p:sp>
      <p:sp>
        <p:nvSpPr>
          <p:cNvPr id="17" name="TextBox 16">
            <a:extLst>
              <a:ext uri="{FF2B5EF4-FFF2-40B4-BE49-F238E27FC236}">
                <a16:creationId xmlns:a16="http://schemas.microsoft.com/office/drawing/2014/main" id="{14D34C41-46A9-9F39-5F7D-B3E5D2853418}"/>
              </a:ext>
            </a:extLst>
          </p:cNvPr>
          <p:cNvSpPr txBox="1"/>
          <p:nvPr/>
        </p:nvSpPr>
        <p:spPr>
          <a:xfrm>
            <a:off x="4832287" y="5227820"/>
            <a:ext cx="6097508" cy="646331"/>
          </a:xfrm>
          <a:prstGeom prst="rect">
            <a:avLst/>
          </a:prstGeom>
          <a:noFill/>
        </p:spPr>
        <p:txBody>
          <a:bodyPr wrap="square">
            <a:spAutoFit/>
          </a:bodyPr>
          <a:lstStyle/>
          <a:p>
            <a:r>
              <a:rPr lang="en-US" dirty="0"/>
              <a:t>%write just the coding region to a FASTA file. </a:t>
            </a:r>
            <a:r>
              <a:rPr lang="en-US" dirty="0" err="1"/>
              <a:t>fastawrite</a:t>
            </a:r>
            <a:r>
              <a:rPr lang="en-US" dirty="0"/>
              <a:t>('p53coding.txt','Coding region for p53',codingSeq);</a:t>
            </a:r>
          </a:p>
        </p:txBody>
      </p:sp>
    </p:spTree>
    <p:extLst>
      <p:ext uri="{BB962C8B-B14F-4D97-AF65-F5344CB8AC3E}">
        <p14:creationId xmlns:p14="http://schemas.microsoft.com/office/powerpoint/2010/main" val="2769218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7CF1C-CB81-222A-5351-6E64D1B0AD91}"/>
              </a:ext>
            </a:extLst>
          </p:cNvPr>
          <p:cNvSpPr>
            <a:spLocks noGrp="1"/>
          </p:cNvSpPr>
          <p:nvPr>
            <p:ph type="title"/>
          </p:nvPr>
        </p:nvSpPr>
        <p:spPr>
          <a:xfrm>
            <a:off x="1676400" y="365125"/>
            <a:ext cx="10515600" cy="992895"/>
          </a:xfrm>
        </p:spPr>
        <p:txBody>
          <a:bodyPr>
            <a:noAutofit/>
          </a:bodyPr>
          <a:lstStyle/>
          <a:p>
            <a:r>
              <a:rPr lang="en-US" sz="3200" dirty="0" err="1">
                <a:solidFill>
                  <a:srgbClr val="FF0000"/>
                </a:solidFill>
              </a:rPr>
              <a:t>fastawrite</a:t>
            </a:r>
            <a:r>
              <a:rPr lang="en-US" sz="3200" dirty="0">
                <a:solidFill>
                  <a:srgbClr val="FF0000"/>
                </a:solidFill>
              </a:rPr>
              <a:t>('File', Header, Sequence) writes header and sequence information to a file with a FASTA format</a:t>
            </a:r>
            <a:br>
              <a:rPr lang="en-US" sz="3200" dirty="0">
                <a:solidFill>
                  <a:srgbClr val="FF0000"/>
                </a:solidFill>
              </a:rPr>
            </a:br>
            <a:endParaRPr lang="en-US" sz="3200" dirty="0">
              <a:solidFill>
                <a:srgbClr val="FF0000"/>
              </a:solidFill>
            </a:endParaRPr>
          </a:p>
        </p:txBody>
      </p:sp>
      <p:sp>
        <p:nvSpPr>
          <p:cNvPr id="3" name="Content Placeholder 2">
            <a:extLst>
              <a:ext uri="{FF2B5EF4-FFF2-40B4-BE49-F238E27FC236}">
                <a16:creationId xmlns:a16="http://schemas.microsoft.com/office/drawing/2014/main" id="{3C3F283C-0A06-2604-9682-14A6700726A4}"/>
              </a:ext>
            </a:extLst>
          </p:cNvPr>
          <p:cNvSpPr>
            <a:spLocks noGrp="1"/>
          </p:cNvSpPr>
          <p:nvPr>
            <p:ph idx="1"/>
          </p:nvPr>
        </p:nvSpPr>
        <p:spPr>
          <a:xfrm>
            <a:off x="838200" y="1158844"/>
            <a:ext cx="10515600" cy="5018119"/>
          </a:xfrm>
        </p:spPr>
        <p:txBody>
          <a:bodyPr/>
          <a:lstStyle/>
          <a:p>
            <a:endParaRPr lang="en-US" dirty="0"/>
          </a:p>
          <a:p>
            <a:endParaRPr lang="en-US" dirty="0"/>
          </a:p>
        </p:txBody>
      </p:sp>
      <p:pic>
        <p:nvPicPr>
          <p:cNvPr id="7" name="Picture 6">
            <a:extLst>
              <a:ext uri="{FF2B5EF4-FFF2-40B4-BE49-F238E27FC236}">
                <a16:creationId xmlns:a16="http://schemas.microsoft.com/office/drawing/2014/main" id="{2E948FDC-7FF7-58E3-287E-6795DF4D4153}"/>
              </a:ext>
            </a:extLst>
          </p:cNvPr>
          <p:cNvPicPr>
            <a:picLocks noChangeAspect="1"/>
          </p:cNvPicPr>
          <p:nvPr/>
        </p:nvPicPr>
        <p:blipFill>
          <a:blip r:embed="rId2"/>
          <a:stretch>
            <a:fillRect/>
          </a:stretch>
        </p:blipFill>
        <p:spPr>
          <a:xfrm>
            <a:off x="3303037" y="1358020"/>
            <a:ext cx="6969967" cy="4967459"/>
          </a:xfrm>
          <a:prstGeom prst="rect">
            <a:avLst/>
          </a:prstGeom>
        </p:spPr>
      </p:pic>
    </p:spTree>
    <p:extLst>
      <p:ext uri="{BB962C8B-B14F-4D97-AF65-F5344CB8AC3E}">
        <p14:creationId xmlns:p14="http://schemas.microsoft.com/office/powerpoint/2010/main" val="20361221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E67D6-4F0D-93DB-A4F2-73FCE0EC2CBA}"/>
              </a:ext>
            </a:extLst>
          </p:cNvPr>
          <p:cNvSpPr>
            <a:spLocks noGrp="1"/>
          </p:cNvSpPr>
          <p:nvPr>
            <p:ph type="title"/>
          </p:nvPr>
        </p:nvSpPr>
        <p:spPr>
          <a:xfrm>
            <a:off x="747666" y="0"/>
            <a:ext cx="10515600" cy="760491"/>
          </a:xfrm>
        </p:spPr>
        <p:txBody>
          <a:bodyPr/>
          <a:lstStyle/>
          <a:p>
            <a:pPr algn="ctr"/>
            <a:r>
              <a:rPr lang="en-US" b="1" dirty="0" err="1">
                <a:solidFill>
                  <a:srgbClr val="FF0000"/>
                </a:solidFill>
              </a:rPr>
              <a:t>fastaread</a:t>
            </a:r>
            <a:endParaRPr lang="en-US" b="1" dirty="0">
              <a:solidFill>
                <a:srgbClr val="FF0000"/>
              </a:solidFill>
            </a:endParaRPr>
          </a:p>
        </p:txBody>
      </p:sp>
      <p:pic>
        <p:nvPicPr>
          <p:cNvPr id="5" name="Content Placeholder 4">
            <a:extLst>
              <a:ext uri="{FF2B5EF4-FFF2-40B4-BE49-F238E27FC236}">
                <a16:creationId xmlns:a16="http://schemas.microsoft.com/office/drawing/2014/main" id="{A27648D6-5F5E-6A14-8B15-42560464939C}"/>
              </a:ext>
            </a:extLst>
          </p:cNvPr>
          <p:cNvPicPr>
            <a:picLocks noGrp="1" noChangeAspect="1"/>
          </p:cNvPicPr>
          <p:nvPr>
            <p:ph idx="1"/>
          </p:nvPr>
        </p:nvPicPr>
        <p:blipFill>
          <a:blip r:embed="rId2"/>
          <a:stretch>
            <a:fillRect/>
          </a:stretch>
        </p:blipFill>
        <p:spPr>
          <a:xfrm>
            <a:off x="2234918" y="720764"/>
            <a:ext cx="8268934" cy="5416472"/>
          </a:xfrm>
        </p:spPr>
      </p:pic>
    </p:spTree>
    <p:extLst>
      <p:ext uri="{BB962C8B-B14F-4D97-AF65-F5344CB8AC3E}">
        <p14:creationId xmlns:p14="http://schemas.microsoft.com/office/powerpoint/2010/main" val="2020934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B9B5-3F9F-616F-4567-F4BD737B75FA}"/>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693AD20-7732-637B-5B99-4D3B34DCD843}"/>
              </a:ext>
            </a:extLst>
          </p:cNvPr>
          <p:cNvPicPr>
            <a:picLocks noGrp="1" noChangeAspect="1"/>
          </p:cNvPicPr>
          <p:nvPr>
            <p:ph idx="1"/>
          </p:nvPr>
        </p:nvPicPr>
        <p:blipFill>
          <a:blip r:embed="rId2"/>
          <a:stretch>
            <a:fillRect/>
          </a:stretch>
        </p:blipFill>
        <p:spPr>
          <a:xfrm>
            <a:off x="941863" y="261799"/>
            <a:ext cx="10411937" cy="3167201"/>
          </a:xfrm>
        </p:spPr>
      </p:pic>
      <p:pic>
        <p:nvPicPr>
          <p:cNvPr id="7" name="Picture 6">
            <a:extLst>
              <a:ext uri="{FF2B5EF4-FFF2-40B4-BE49-F238E27FC236}">
                <a16:creationId xmlns:a16="http://schemas.microsoft.com/office/drawing/2014/main" id="{A8EE3528-1FFC-AACC-F571-439D33936DFA}"/>
              </a:ext>
            </a:extLst>
          </p:cNvPr>
          <p:cNvPicPr>
            <a:picLocks noChangeAspect="1"/>
          </p:cNvPicPr>
          <p:nvPr/>
        </p:nvPicPr>
        <p:blipFill>
          <a:blip r:embed="rId3"/>
          <a:stretch>
            <a:fillRect/>
          </a:stretch>
        </p:blipFill>
        <p:spPr>
          <a:xfrm>
            <a:off x="2037320" y="3677182"/>
            <a:ext cx="8752242" cy="2416839"/>
          </a:xfrm>
          <a:prstGeom prst="rect">
            <a:avLst/>
          </a:prstGeom>
        </p:spPr>
      </p:pic>
    </p:spTree>
    <p:extLst>
      <p:ext uri="{BB962C8B-B14F-4D97-AF65-F5344CB8AC3E}">
        <p14:creationId xmlns:p14="http://schemas.microsoft.com/office/powerpoint/2010/main" val="39712920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4610F-E249-CDA3-BB5C-E3BCB3DA770D}"/>
              </a:ext>
            </a:extLst>
          </p:cNvPr>
          <p:cNvSpPr>
            <a:spLocks noGrp="1"/>
          </p:cNvSpPr>
          <p:nvPr>
            <p:ph type="title"/>
          </p:nvPr>
        </p:nvSpPr>
        <p:spPr/>
        <p:txBody>
          <a:bodyPr>
            <a:normAutofit/>
          </a:bodyPr>
          <a:lstStyle/>
          <a:p>
            <a:pPr algn="ctr"/>
            <a:r>
              <a:rPr lang="en-US" sz="2400" b="1" dirty="0">
                <a:solidFill>
                  <a:srgbClr val="FF0000"/>
                </a:solidFill>
              </a:rPr>
              <a:t>Globally align two sequences using the Needleman-Wunsch algorithm</a:t>
            </a:r>
          </a:p>
        </p:txBody>
      </p:sp>
      <p:pic>
        <p:nvPicPr>
          <p:cNvPr id="5" name="Content Placeholder 4">
            <a:extLst>
              <a:ext uri="{FF2B5EF4-FFF2-40B4-BE49-F238E27FC236}">
                <a16:creationId xmlns:a16="http://schemas.microsoft.com/office/drawing/2014/main" id="{0027E123-94A1-9CCB-B816-5DB591CC429B}"/>
              </a:ext>
            </a:extLst>
          </p:cNvPr>
          <p:cNvPicPr>
            <a:picLocks noGrp="1" noChangeAspect="1"/>
          </p:cNvPicPr>
          <p:nvPr>
            <p:ph idx="1"/>
          </p:nvPr>
        </p:nvPicPr>
        <p:blipFill>
          <a:blip r:embed="rId2"/>
          <a:stretch>
            <a:fillRect/>
          </a:stretch>
        </p:blipFill>
        <p:spPr>
          <a:xfrm>
            <a:off x="2560763" y="1857650"/>
            <a:ext cx="6943725" cy="466725"/>
          </a:xfrm>
        </p:spPr>
      </p:pic>
      <p:pic>
        <p:nvPicPr>
          <p:cNvPr id="7" name="Picture 6">
            <a:extLst>
              <a:ext uri="{FF2B5EF4-FFF2-40B4-BE49-F238E27FC236}">
                <a16:creationId xmlns:a16="http://schemas.microsoft.com/office/drawing/2014/main" id="{CE7A7F04-A4C8-C7ED-3323-616AD1B4E3D1}"/>
              </a:ext>
            </a:extLst>
          </p:cNvPr>
          <p:cNvPicPr>
            <a:picLocks noChangeAspect="1"/>
          </p:cNvPicPr>
          <p:nvPr/>
        </p:nvPicPr>
        <p:blipFill>
          <a:blip r:embed="rId3"/>
          <a:stretch>
            <a:fillRect/>
          </a:stretch>
        </p:blipFill>
        <p:spPr>
          <a:xfrm>
            <a:off x="2660399" y="2594949"/>
            <a:ext cx="7124700" cy="1143000"/>
          </a:xfrm>
          <a:prstGeom prst="rect">
            <a:avLst/>
          </a:prstGeom>
        </p:spPr>
      </p:pic>
      <p:pic>
        <p:nvPicPr>
          <p:cNvPr id="9" name="Picture 8">
            <a:extLst>
              <a:ext uri="{FF2B5EF4-FFF2-40B4-BE49-F238E27FC236}">
                <a16:creationId xmlns:a16="http://schemas.microsoft.com/office/drawing/2014/main" id="{88B0CD45-9631-5926-03AA-D0EAC8A829C4}"/>
              </a:ext>
            </a:extLst>
          </p:cNvPr>
          <p:cNvPicPr>
            <a:picLocks noChangeAspect="1"/>
          </p:cNvPicPr>
          <p:nvPr/>
        </p:nvPicPr>
        <p:blipFill>
          <a:blip r:embed="rId4"/>
          <a:stretch>
            <a:fillRect/>
          </a:stretch>
        </p:blipFill>
        <p:spPr>
          <a:xfrm>
            <a:off x="2762250" y="3869366"/>
            <a:ext cx="6667500" cy="2143125"/>
          </a:xfrm>
          <a:prstGeom prst="rect">
            <a:avLst/>
          </a:prstGeom>
        </p:spPr>
      </p:pic>
    </p:spTree>
    <p:extLst>
      <p:ext uri="{BB962C8B-B14F-4D97-AF65-F5344CB8AC3E}">
        <p14:creationId xmlns:p14="http://schemas.microsoft.com/office/powerpoint/2010/main" val="32857406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914CB-13E8-7FE0-DC00-4CB5812C9A62}"/>
              </a:ext>
            </a:extLst>
          </p:cNvPr>
          <p:cNvSpPr>
            <a:spLocks noGrp="1"/>
          </p:cNvSpPr>
          <p:nvPr>
            <p:ph type="title"/>
          </p:nvPr>
        </p:nvSpPr>
        <p:spPr>
          <a:xfrm>
            <a:off x="910627" y="75414"/>
            <a:ext cx="10515600" cy="1325563"/>
          </a:xfrm>
        </p:spPr>
        <p:txBody>
          <a:bodyPr>
            <a:normAutofit/>
          </a:bodyPr>
          <a:lstStyle/>
          <a:p>
            <a:pPr algn="ctr"/>
            <a:r>
              <a:rPr lang="en-US" sz="2800" b="1" dirty="0">
                <a:solidFill>
                  <a:srgbClr val="FF0000"/>
                </a:solidFill>
              </a:rPr>
              <a:t>Locally align two sequences using the Smith-Waterman algorithm</a:t>
            </a:r>
          </a:p>
        </p:txBody>
      </p:sp>
      <p:pic>
        <p:nvPicPr>
          <p:cNvPr id="11" name="Content Placeholder 10">
            <a:extLst>
              <a:ext uri="{FF2B5EF4-FFF2-40B4-BE49-F238E27FC236}">
                <a16:creationId xmlns:a16="http://schemas.microsoft.com/office/drawing/2014/main" id="{CC479B12-C7CD-1384-01FE-8A6000B5F8FC}"/>
              </a:ext>
            </a:extLst>
          </p:cNvPr>
          <p:cNvPicPr>
            <a:picLocks noGrp="1" noChangeAspect="1"/>
          </p:cNvPicPr>
          <p:nvPr>
            <p:ph idx="1"/>
          </p:nvPr>
        </p:nvPicPr>
        <p:blipFill>
          <a:blip r:embed="rId2"/>
          <a:stretch>
            <a:fillRect/>
          </a:stretch>
        </p:blipFill>
        <p:spPr>
          <a:xfrm>
            <a:off x="2600325" y="2851811"/>
            <a:ext cx="6991350" cy="1495425"/>
          </a:xfrm>
        </p:spPr>
      </p:pic>
      <p:pic>
        <p:nvPicPr>
          <p:cNvPr id="9" name="Picture 8">
            <a:extLst>
              <a:ext uri="{FF2B5EF4-FFF2-40B4-BE49-F238E27FC236}">
                <a16:creationId xmlns:a16="http://schemas.microsoft.com/office/drawing/2014/main" id="{8B162110-728A-E184-E643-D199143A7990}"/>
              </a:ext>
            </a:extLst>
          </p:cNvPr>
          <p:cNvPicPr>
            <a:picLocks noChangeAspect="1"/>
          </p:cNvPicPr>
          <p:nvPr/>
        </p:nvPicPr>
        <p:blipFill>
          <a:blip r:embed="rId3"/>
          <a:stretch>
            <a:fillRect/>
          </a:stretch>
        </p:blipFill>
        <p:spPr>
          <a:xfrm>
            <a:off x="2462543" y="1539215"/>
            <a:ext cx="6705600" cy="971550"/>
          </a:xfrm>
          <a:prstGeom prst="rect">
            <a:avLst/>
          </a:prstGeom>
        </p:spPr>
      </p:pic>
      <p:pic>
        <p:nvPicPr>
          <p:cNvPr id="13" name="Picture 12">
            <a:extLst>
              <a:ext uri="{FF2B5EF4-FFF2-40B4-BE49-F238E27FC236}">
                <a16:creationId xmlns:a16="http://schemas.microsoft.com/office/drawing/2014/main" id="{573F684C-A17B-0D9E-D431-39C788D229C8}"/>
              </a:ext>
            </a:extLst>
          </p:cNvPr>
          <p:cNvPicPr>
            <a:picLocks noChangeAspect="1"/>
          </p:cNvPicPr>
          <p:nvPr/>
        </p:nvPicPr>
        <p:blipFill>
          <a:blip r:embed="rId4"/>
          <a:stretch>
            <a:fillRect/>
          </a:stretch>
        </p:blipFill>
        <p:spPr>
          <a:xfrm>
            <a:off x="3720549" y="4544399"/>
            <a:ext cx="5076825" cy="1685925"/>
          </a:xfrm>
          <a:prstGeom prst="rect">
            <a:avLst/>
          </a:prstGeom>
        </p:spPr>
      </p:pic>
    </p:spTree>
    <p:extLst>
      <p:ext uri="{BB962C8B-B14F-4D97-AF65-F5344CB8AC3E}">
        <p14:creationId xmlns:p14="http://schemas.microsoft.com/office/powerpoint/2010/main" val="38718078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46D54-62BE-55D6-5A21-2A3A9CDD4A57}"/>
              </a:ext>
            </a:extLst>
          </p:cNvPr>
          <p:cNvSpPr>
            <a:spLocks noGrp="1"/>
          </p:cNvSpPr>
          <p:nvPr>
            <p:ph type="title"/>
          </p:nvPr>
        </p:nvSpPr>
        <p:spPr/>
        <p:txBody>
          <a:bodyPr/>
          <a:lstStyle/>
          <a:p>
            <a:pPr algn="ctr"/>
            <a:r>
              <a:rPr lang="en-US" b="1" dirty="0" err="1">
                <a:solidFill>
                  <a:srgbClr val="FF0000"/>
                </a:solidFill>
              </a:rPr>
              <a:t>seqdotplot</a:t>
            </a:r>
            <a:endParaRPr lang="en-US" b="1" dirty="0">
              <a:solidFill>
                <a:srgbClr val="FF0000"/>
              </a:solidFill>
            </a:endParaRPr>
          </a:p>
        </p:txBody>
      </p:sp>
      <p:pic>
        <p:nvPicPr>
          <p:cNvPr id="5" name="Content Placeholder 4">
            <a:extLst>
              <a:ext uri="{FF2B5EF4-FFF2-40B4-BE49-F238E27FC236}">
                <a16:creationId xmlns:a16="http://schemas.microsoft.com/office/drawing/2014/main" id="{43046EC8-B823-BF01-75EA-1A88163A23CD}"/>
              </a:ext>
            </a:extLst>
          </p:cNvPr>
          <p:cNvPicPr>
            <a:picLocks noGrp="1" noChangeAspect="1"/>
          </p:cNvPicPr>
          <p:nvPr>
            <p:ph idx="1"/>
          </p:nvPr>
        </p:nvPicPr>
        <p:blipFill>
          <a:blip r:embed="rId2"/>
          <a:stretch>
            <a:fillRect/>
          </a:stretch>
        </p:blipFill>
        <p:spPr>
          <a:xfrm>
            <a:off x="1240324" y="1314658"/>
            <a:ext cx="9387513" cy="5053935"/>
          </a:xfrm>
        </p:spPr>
      </p:pic>
    </p:spTree>
    <p:extLst>
      <p:ext uri="{BB962C8B-B14F-4D97-AF65-F5344CB8AC3E}">
        <p14:creationId xmlns:p14="http://schemas.microsoft.com/office/powerpoint/2010/main" val="10152289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FD7DA-119F-68F3-EDA6-5BE1FF6317B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432FA9-3442-ED98-FB7F-E09EA1BBF7AC}"/>
              </a:ext>
            </a:extLst>
          </p:cNvPr>
          <p:cNvSpPr>
            <a:spLocks noGrp="1"/>
          </p:cNvSpPr>
          <p:nvPr>
            <p:ph idx="1"/>
          </p:nvPr>
        </p:nvSpPr>
        <p:spPr/>
        <p:txBody>
          <a:bodyPr/>
          <a:lstStyle/>
          <a:p>
            <a:r>
              <a:rPr lang="en-US" dirty="0"/>
              <a:t>load hexosaminidase</a:t>
            </a:r>
          </a:p>
          <a:p>
            <a:r>
              <a:rPr lang="en-US" sz="2000" dirty="0" err="1"/>
              <a:t>humanORFs</a:t>
            </a:r>
            <a:r>
              <a:rPr lang="en-US" sz="2000" dirty="0"/>
              <a:t>=</a:t>
            </a:r>
            <a:r>
              <a:rPr lang="en-US" sz="2000" dirty="0" err="1"/>
              <a:t>seqshoworfs</a:t>
            </a:r>
            <a:r>
              <a:rPr lang="en-US" sz="2000" dirty="0"/>
              <a:t>(</a:t>
            </a:r>
            <a:r>
              <a:rPr lang="en-US" sz="2000" dirty="0" err="1"/>
              <a:t>humanHEXA.Sequence</a:t>
            </a:r>
            <a:r>
              <a:rPr lang="en-US" sz="2000" dirty="0"/>
              <a:t>)</a:t>
            </a:r>
          </a:p>
          <a:p>
            <a:r>
              <a:rPr lang="en-US" sz="2000" dirty="0" err="1"/>
              <a:t>mouseORFs</a:t>
            </a:r>
            <a:r>
              <a:rPr lang="en-US" sz="2000" dirty="0"/>
              <a:t> = </a:t>
            </a:r>
            <a:r>
              <a:rPr lang="en-US" sz="2000" dirty="0" err="1"/>
              <a:t>seqshoworfs</a:t>
            </a:r>
            <a:r>
              <a:rPr lang="en-US" sz="2000" dirty="0"/>
              <a:t>(</a:t>
            </a:r>
            <a:r>
              <a:rPr lang="en-US" sz="2000" dirty="0" err="1"/>
              <a:t>mouseHEXA.Sequence</a:t>
            </a:r>
            <a:r>
              <a:rPr lang="en-US" sz="2000" dirty="0"/>
              <a:t>)</a:t>
            </a:r>
          </a:p>
          <a:p>
            <a:endParaRPr lang="en-US" dirty="0"/>
          </a:p>
        </p:txBody>
      </p:sp>
      <p:pic>
        <p:nvPicPr>
          <p:cNvPr id="5" name="Picture 4">
            <a:extLst>
              <a:ext uri="{FF2B5EF4-FFF2-40B4-BE49-F238E27FC236}">
                <a16:creationId xmlns:a16="http://schemas.microsoft.com/office/drawing/2014/main" id="{732BE585-AB00-AEE3-2219-4722EC9DF326}"/>
              </a:ext>
            </a:extLst>
          </p:cNvPr>
          <p:cNvPicPr>
            <a:picLocks noChangeAspect="1"/>
          </p:cNvPicPr>
          <p:nvPr/>
        </p:nvPicPr>
        <p:blipFill>
          <a:blip r:embed="rId2"/>
          <a:stretch>
            <a:fillRect/>
          </a:stretch>
        </p:blipFill>
        <p:spPr>
          <a:xfrm>
            <a:off x="6951925" y="365125"/>
            <a:ext cx="5408795" cy="6400800"/>
          </a:xfrm>
          <a:prstGeom prst="rect">
            <a:avLst/>
          </a:prstGeom>
        </p:spPr>
      </p:pic>
    </p:spTree>
    <p:extLst>
      <p:ext uri="{BB962C8B-B14F-4D97-AF65-F5344CB8AC3E}">
        <p14:creationId xmlns:p14="http://schemas.microsoft.com/office/powerpoint/2010/main" val="22265099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A71AF-5635-4EBC-748F-8D9E922C4470}"/>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869DDE0F-D672-D0AC-DAB4-6F3433974D0D}"/>
              </a:ext>
            </a:extLst>
          </p:cNvPr>
          <p:cNvPicPr>
            <a:picLocks noGrp="1" noChangeAspect="1"/>
          </p:cNvPicPr>
          <p:nvPr>
            <p:ph idx="1"/>
          </p:nvPr>
        </p:nvPicPr>
        <p:blipFill>
          <a:blip r:embed="rId2"/>
          <a:stretch>
            <a:fillRect/>
          </a:stretch>
        </p:blipFill>
        <p:spPr>
          <a:xfrm>
            <a:off x="304533" y="223935"/>
            <a:ext cx="6524625" cy="2238375"/>
          </a:xfrm>
        </p:spPr>
      </p:pic>
      <p:pic>
        <p:nvPicPr>
          <p:cNvPr id="7" name="Picture 6">
            <a:extLst>
              <a:ext uri="{FF2B5EF4-FFF2-40B4-BE49-F238E27FC236}">
                <a16:creationId xmlns:a16="http://schemas.microsoft.com/office/drawing/2014/main" id="{086E1D2D-6FFB-E705-6C50-CD35D77D0757}"/>
              </a:ext>
            </a:extLst>
          </p:cNvPr>
          <p:cNvPicPr>
            <a:picLocks noChangeAspect="1"/>
          </p:cNvPicPr>
          <p:nvPr/>
        </p:nvPicPr>
        <p:blipFill>
          <a:blip r:embed="rId3"/>
          <a:stretch>
            <a:fillRect/>
          </a:stretch>
        </p:blipFill>
        <p:spPr>
          <a:xfrm>
            <a:off x="6686670" y="-121298"/>
            <a:ext cx="5200797" cy="6858000"/>
          </a:xfrm>
          <a:prstGeom prst="rect">
            <a:avLst/>
          </a:prstGeom>
        </p:spPr>
      </p:pic>
    </p:spTree>
    <p:extLst>
      <p:ext uri="{BB962C8B-B14F-4D97-AF65-F5344CB8AC3E}">
        <p14:creationId xmlns:p14="http://schemas.microsoft.com/office/powerpoint/2010/main" val="21664725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216</TotalTime>
  <Words>1126</Words>
  <Application>Microsoft Office PowerPoint</Application>
  <PresentationFormat>Widescreen</PresentationFormat>
  <Paragraphs>118</Paragraphs>
  <Slides>45</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45</vt:i4>
      </vt:variant>
    </vt:vector>
  </HeadingPairs>
  <TitlesOfParts>
    <vt:vector size="58" baseType="lpstr">
      <vt:lpstr>Aptos</vt:lpstr>
      <vt:lpstr>Aptos Display</vt:lpstr>
      <vt:lpstr>Arial</vt:lpstr>
      <vt:lpstr>Bradley Hand ITC</vt:lpstr>
      <vt:lpstr>Brush Script MT</vt:lpstr>
      <vt:lpstr>Calibri</vt:lpstr>
      <vt:lpstr>Calibri Light</vt:lpstr>
      <vt:lpstr>Futura-Bold</vt:lpstr>
      <vt:lpstr>Monospace821BT-Roman</vt:lpstr>
      <vt:lpstr>NewCenturySchlbk-Bold</vt:lpstr>
      <vt:lpstr>NewCenturySchlbk-Roman</vt:lpstr>
      <vt:lpstr>Office Theme</vt:lpstr>
      <vt:lpstr>Custom Design</vt:lpstr>
      <vt:lpstr>MATLAB  Bioinformatics Toolbox</vt:lpstr>
      <vt:lpstr>Genome and Proteome Analysis Using MATLAB Bioinformatics Toolbox</vt:lpstr>
      <vt:lpstr>Web-Based Databases</vt:lpstr>
      <vt:lpstr>Connecting to Web Accessible Databases</vt:lpstr>
      <vt:lpstr>Sequence Statistics</vt:lpstr>
      <vt:lpstr>Determining Nucleotide Content</vt:lpstr>
      <vt:lpstr>Determining Nucleotide Content</vt:lpstr>
      <vt:lpstr>ntdensity(mitochondria)  </vt:lpstr>
      <vt:lpstr>basecount(mitochondria) </vt:lpstr>
      <vt:lpstr>basecount(seqrcomplement(mitochondria)) </vt:lpstr>
      <vt:lpstr>basecount(mitochondria,'chart','pie’);  </vt:lpstr>
      <vt:lpstr>dimercount(mitochondria,'chart','bar’)  </vt:lpstr>
      <vt:lpstr>Determining Codon Composition</vt:lpstr>
      <vt:lpstr>codoncount(mitochondria)  </vt:lpstr>
      <vt:lpstr>Determining Codon Composition</vt:lpstr>
      <vt:lpstr>PowerPoint Presentation</vt:lpstr>
      <vt:lpstr>PowerPoint Presentation</vt:lpstr>
      <vt:lpstr>PowerPoint Presentation</vt:lpstr>
      <vt:lpstr>PowerPoint Presentation</vt:lpstr>
      <vt:lpstr>Sequence Manipulation</vt:lpstr>
      <vt:lpstr>Sequence Conversion</vt:lpstr>
      <vt:lpstr>PowerPoint Presentation</vt:lpstr>
      <vt:lpstr>nt2aa</vt:lpstr>
      <vt:lpstr>aa2nt</vt:lpstr>
      <vt:lpstr>aacount</vt:lpstr>
      <vt:lpstr>aminolookup</vt:lpstr>
      <vt:lpstr>dna2rna</vt:lpstr>
      <vt:lpstr>rna2dna</vt:lpstr>
      <vt:lpstr>Sequence Analysis</vt:lpstr>
      <vt:lpstr>Atomic Composition of a Protein</vt:lpstr>
      <vt:lpstr>Molecular Weight of an Amino Acid Sequence</vt:lpstr>
      <vt:lpstr>Protein Properties</vt:lpstr>
      <vt:lpstr>Protein Properties</vt:lpstr>
      <vt:lpstr>Reading a Protein Data</vt:lpstr>
      <vt:lpstr>GenPeptDATA contains these fields:</vt:lpstr>
      <vt:lpstr>EXAMPLE</vt:lpstr>
      <vt:lpstr>Write to a file using FASTA format</vt:lpstr>
      <vt:lpstr>fastawrite('File', Header, Sequence) writes header and sequence information to a file with a FASTA format </vt:lpstr>
      <vt:lpstr>fastaread</vt:lpstr>
      <vt:lpstr>PowerPoint Presentation</vt:lpstr>
      <vt:lpstr>Globally align two sequences using the Needleman-Wunsch algorithm</vt:lpstr>
      <vt:lpstr>Locally align two sequences using the Smith-Waterman algorithm</vt:lpstr>
      <vt:lpstr>seqdotplot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MATLAB  Bioinformatics Toolbox</dc:title>
  <dc:creator>Prof. Sanjeev Narayan Sharma</dc:creator>
  <cp:lastModifiedBy>Prof. Sanjeev Narayan Sharma</cp:lastModifiedBy>
  <cp:revision>27</cp:revision>
  <dcterms:created xsi:type="dcterms:W3CDTF">2022-09-16T02:20:40Z</dcterms:created>
  <dcterms:modified xsi:type="dcterms:W3CDTF">2024-09-06T07:55:11Z</dcterms:modified>
</cp:coreProperties>
</file>