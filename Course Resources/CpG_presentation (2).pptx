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6858000" cx="12192000"/>
  <p:notesSz cx="6858000" cy="9144000"/>
  <p:embeddedFontLst>
    <p:embeddedFont>
      <p:font typeface="Play"/>
      <p:regular r:id="rId59"/>
      <p:bold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hionCIlvSOdvuCNfSa6V446533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848C1A2-6DD1-448B-B913-891EF0EE872A}">
  <a:tblStyle styleId="{2848C1A2-6DD1-448B-B913-891EF0EE87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lay-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Play-regular.fnt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5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5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5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5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3"/>
          <p:cNvSpPr/>
          <p:nvPr>
            <p:ph idx="2" type="pic"/>
          </p:nvPr>
        </p:nvSpPr>
        <p:spPr>
          <a:xfrm>
            <a:off x="5183188" y="987425"/>
            <a:ext cx="6172200" cy="4873625"/>
          </a:xfrm>
          <a:prstGeom prst="rect">
            <a:avLst/>
          </a:prstGeom>
          <a:noFill/>
          <a:ln>
            <a:noFill/>
          </a:ln>
        </p:spPr>
      </p:sp>
      <p:sp>
        <p:nvSpPr>
          <p:cNvPr id="64" name="Google Shape;64;p6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6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6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sciencedirect.com/topics/biochemistry-genetics-and-molecular-biology/cpg-site" TargetMode="External"/><Relationship Id="rId4" Type="http://schemas.openxmlformats.org/officeDocument/2006/relationships/hyperlink" Target="https://www.sciencedirect.com/topics/biochemistry-genetics-and-molecular-biology/cytosine" TargetMode="External"/><Relationship Id="rId5" Type="http://schemas.openxmlformats.org/officeDocument/2006/relationships/hyperlink" Target="https://www.sciencedirect.com/topics/biochemistry-genetics-and-molecular-biology/guanine" TargetMode="External"/><Relationship Id="rId6" Type="http://schemas.openxmlformats.org/officeDocument/2006/relationships/hyperlink" Target="https://www.sciencedirect.com/topics/earth-and-planetary-sciences/methylatio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mathworks.com/help/bioinfo/ref/cpgisland.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mathworks.com/help/bioinfo/ref/fastaread.html" TargetMode="External"/><Relationship Id="rId4" Type="http://schemas.openxmlformats.org/officeDocument/2006/relationships/hyperlink" Target="https://www.mathworks.com/help/bioinfo/ref/fastqread.html" TargetMode="External"/><Relationship Id="rId5" Type="http://schemas.openxmlformats.org/officeDocument/2006/relationships/hyperlink" Target="https://www.mathworks.com/help/bioinfo/ref/emblread.html" TargetMode="External"/><Relationship Id="rId6" Type="http://schemas.openxmlformats.org/officeDocument/2006/relationships/hyperlink" Target="https://www.mathworks.com/help/bioinfo/ref/getembl.html" TargetMode="External"/><Relationship Id="rId7" Type="http://schemas.openxmlformats.org/officeDocument/2006/relationships/hyperlink" Target="https://www.mathworks.com/help/bioinfo/ref/genbankread.html" TargetMode="External"/><Relationship Id="rId8" Type="http://schemas.openxmlformats.org/officeDocument/2006/relationships/hyperlink" Target="https://www.mathworks.com/help/bioinfo/ref/getgenbank.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6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20.png"/><Relationship Id="rId5" Type="http://schemas.openxmlformats.org/officeDocument/2006/relationships/image" Target="../media/image9.png"/><Relationship Id="rId6"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8.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5.png"/><Relationship Id="rId4" Type="http://schemas.openxmlformats.org/officeDocument/2006/relationships/image" Target="../media/image30.png"/><Relationship Id="rId5" Type="http://schemas.openxmlformats.org/officeDocument/2006/relationships/image" Target="../media/image35.png"/><Relationship Id="rId6" Type="http://schemas.openxmlformats.org/officeDocument/2006/relationships/image" Target="../media/image32.png"/><Relationship Id="rId7"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0.png"/><Relationship Id="rId4" Type="http://schemas.openxmlformats.org/officeDocument/2006/relationships/image" Target="../media/image41.png"/><Relationship Id="rId5"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54.png"/><Relationship Id="rId4" Type="http://schemas.openxmlformats.org/officeDocument/2006/relationships/image" Target="../media/image50.png"/><Relationship Id="rId5" Type="http://schemas.openxmlformats.org/officeDocument/2006/relationships/image" Target="../media/image64.png"/><Relationship Id="rId6" Type="http://schemas.openxmlformats.org/officeDocument/2006/relationships/image" Target="../media/image63.png"/><Relationship Id="rId7"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8.png"/><Relationship Id="rId4" Type="http://schemas.openxmlformats.org/officeDocument/2006/relationships/image" Target="../media/image5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6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2393795" y="468351"/>
            <a:ext cx="9144000" cy="121281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0000"/>
              </a:buClr>
              <a:buSzPts val="6000"/>
              <a:buFont typeface="Play"/>
              <a:buNone/>
            </a:pPr>
            <a:r>
              <a:rPr b="1" lang="en-US">
                <a:solidFill>
                  <a:srgbClr val="FF0000"/>
                </a:solidFill>
              </a:rPr>
              <a:t>                                 CpG Islands</a:t>
            </a:r>
            <a:endParaRPr b="1">
              <a:solidFill>
                <a:srgbClr val="FF0000"/>
              </a:solidFill>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id="86" name="Google Shape;86;p1"/>
          <p:cNvPicPr preferRelativeResize="0"/>
          <p:nvPr/>
        </p:nvPicPr>
        <p:blipFill rotWithShape="1">
          <a:blip r:embed="rId3">
            <a:alphaModFix/>
          </a:blip>
          <a:srcRect b="0" l="0" r="0" t="0"/>
          <a:stretch/>
        </p:blipFill>
        <p:spPr>
          <a:xfrm>
            <a:off x="2117570" y="2631417"/>
            <a:ext cx="6953250" cy="2152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CpG Islands</a:t>
            </a:r>
            <a:endParaRPr/>
          </a:p>
        </p:txBody>
      </p:sp>
      <p:sp>
        <p:nvSpPr>
          <p:cNvPr id="92" name="Google Shape;92;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rgbClr val="1F1F1F"/>
              </a:buClr>
              <a:buSzPct val="100000"/>
              <a:buChar char="•"/>
            </a:pPr>
            <a:r>
              <a:rPr lang="en-US">
                <a:solidFill>
                  <a:srgbClr val="1F1F1F"/>
                </a:solidFill>
                <a:latin typeface="Arial"/>
                <a:ea typeface="Arial"/>
                <a:cs typeface="Arial"/>
                <a:sym typeface="Arial"/>
              </a:rPr>
              <a:t>R</a:t>
            </a:r>
            <a:r>
              <a:rPr b="0" i="0" lang="en-US">
                <a:solidFill>
                  <a:srgbClr val="1F1F1F"/>
                </a:solidFill>
                <a:latin typeface="Arial"/>
                <a:ea typeface="Arial"/>
                <a:cs typeface="Arial"/>
                <a:sym typeface="Arial"/>
              </a:rPr>
              <a:t>egions of DNA with a high frequency of </a:t>
            </a:r>
            <a:r>
              <a:rPr b="0" i="0" lang="en-US" u="sng">
                <a:solidFill>
                  <a:srgbClr val="1F1F1F"/>
                </a:solidFill>
                <a:latin typeface="Arial"/>
                <a:ea typeface="Arial"/>
                <a:cs typeface="Arial"/>
                <a:sym typeface="Arial"/>
                <a:hlinkClick r:id="rId3">
                  <a:extLst>
                    <a:ext uri="{A12FA001-AC4F-418D-AE19-62706E023703}">
                      <ahyp:hlinkClr val="tx"/>
                    </a:ext>
                  </a:extLst>
                </a:hlinkClick>
              </a:rPr>
              <a:t>CpG sites</a:t>
            </a:r>
            <a:r>
              <a:rPr b="0" i="0" lang="en-US">
                <a:solidFill>
                  <a:srgbClr val="1F1F1F"/>
                </a:solidFill>
                <a:latin typeface="Arial"/>
                <a:ea typeface="Arial"/>
                <a:cs typeface="Arial"/>
                <a:sym typeface="Arial"/>
              </a:rPr>
              <a:t>, where a </a:t>
            </a:r>
            <a:r>
              <a:rPr b="0" i="0" lang="en-US" u="sng">
                <a:solidFill>
                  <a:srgbClr val="1F1F1F"/>
                </a:solidFill>
                <a:latin typeface="Arial"/>
                <a:ea typeface="Arial"/>
                <a:cs typeface="Arial"/>
                <a:sym typeface="Arial"/>
                <a:hlinkClick r:id="rId4">
                  <a:extLst>
                    <a:ext uri="{A12FA001-AC4F-418D-AE19-62706E023703}">
                      <ahyp:hlinkClr val="tx"/>
                    </a:ext>
                  </a:extLst>
                </a:hlinkClick>
              </a:rPr>
              <a:t>cytosine</a:t>
            </a:r>
            <a:r>
              <a:rPr b="0" i="0" lang="en-US">
                <a:solidFill>
                  <a:srgbClr val="1F1F1F"/>
                </a:solidFill>
                <a:latin typeface="Arial"/>
                <a:ea typeface="Arial"/>
                <a:cs typeface="Arial"/>
                <a:sym typeface="Arial"/>
              </a:rPr>
              <a:t> nucleotide is followed by a </a:t>
            </a:r>
            <a:r>
              <a:rPr b="0" i="0" lang="en-US" u="sng">
                <a:solidFill>
                  <a:srgbClr val="1F1F1F"/>
                </a:solidFill>
                <a:latin typeface="Arial"/>
                <a:ea typeface="Arial"/>
                <a:cs typeface="Arial"/>
                <a:sym typeface="Arial"/>
                <a:hlinkClick r:id="rId5">
                  <a:extLst>
                    <a:ext uri="{A12FA001-AC4F-418D-AE19-62706E023703}">
                      <ahyp:hlinkClr val="tx"/>
                    </a:ext>
                  </a:extLst>
                </a:hlinkClick>
              </a:rPr>
              <a:t>guanine</a:t>
            </a:r>
            <a:r>
              <a:rPr b="0" i="0" lang="en-US">
                <a:solidFill>
                  <a:srgbClr val="1F1F1F"/>
                </a:solidFill>
                <a:latin typeface="Arial"/>
                <a:ea typeface="Arial"/>
                <a:cs typeface="Arial"/>
                <a:sym typeface="Arial"/>
              </a:rPr>
              <a:t> nucleotide in the linear sequence of bases along its 5′→3′ direction. </a:t>
            </a:r>
            <a:endParaRPr/>
          </a:p>
          <a:p>
            <a:pPr indent="-228600" lvl="0" marL="228600" rtl="0" algn="just">
              <a:lnSpc>
                <a:spcPct val="90000"/>
              </a:lnSpc>
              <a:spcBef>
                <a:spcPts val="1000"/>
              </a:spcBef>
              <a:spcAft>
                <a:spcPts val="0"/>
              </a:spcAft>
              <a:buClr>
                <a:srgbClr val="1F1F1F"/>
              </a:buClr>
              <a:buSzPct val="100000"/>
              <a:buChar char="•"/>
            </a:pPr>
            <a:r>
              <a:rPr b="0" i="0" lang="en-US">
                <a:solidFill>
                  <a:srgbClr val="1F1F1F"/>
                </a:solidFill>
                <a:latin typeface="Arial"/>
                <a:ea typeface="Arial"/>
                <a:cs typeface="Arial"/>
                <a:sym typeface="Arial"/>
              </a:rPr>
              <a:t>The CG pair of nucleotides is the most infrequent dinucleotide in many genomes. This is because cytosines C in CpG dinucleotides are vulnerable to a process, called </a:t>
            </a:r>
            <a:r>
              <a:rPr b="0" i="0" lang="en-US" u="sng">
                <a:solidFill>
                  <a:srgbClr val="1F1F1F"/>
                </a:solidFill>
                <a:latin typeface="Arial"/>
                <a:ea typeface="Arial"/>
                <a:cs typeface="Arial"/>
                <a:sym typeface="Arial"/>
                <a:hlinkClick r:id="rId6">
                  <a:extLst>
                    <a:ext uri="{A12FA001-AC4F-418D-AE19-62706E023703}">
                      <ahyp:hlinkClr val="tx"/>
                    </a:ext>
                  </a:extLst>
                </a:hlinkClick>
              </a:rPr>
              <a:t>methylation</a:t>
            </a:r>
            <a:r>
              <a:rPr b="0" i="0" lang="en-US">
                <a:solidFill>
                  <a:srgbClr val="1F1F1F"/>
                </a:solidFill>
                <a:latin typeface="Arial"/>
                <a:ea typeface="Arial"/>
                <a:cs typeface="Arial"/>
                <a:sym typeface="Arial"/>
              </a:rPr>
              <a:t> ( that is, an H-atom is replaced by a CH</a:t>
            </a:r>
            <a:r>
              <a:rPr b="0" i="0" lang="en-US" sz="1500">
                <a:solidFill>
                  <a:srgbClr val="1F1F1F"/>
                </a:solidFill>
                <a:latin typeface="Arial"/>
                <a:ea typeface="Arial"/>
                <a:cs typeface="Arial"/>
                <a:sym typeface="Arial"/>
              </a:rPr>
              <a:t>3</a:t>
            </a:r>
            <a:r>
              <a:rPr b="0" i="0" lang="en-US">
                <a:solidFill>
                  <a:srgbClr val="1F1F1F"/>
                </a:solidFill>
                <a:latin typeface="Arial"/>
                <a:ea typeface="Arial"/>
                <a:cs typeface="Arial"/>
                <a:sym typeface="Arial"/>
              </a:rPr>
              <a:t> – group), that can change with a high chance in mutating to a T. </a:t>
            </a:r>
            <a:endParaRPr>
              <a:solidFill>
                <a:srgbClr val="1F1F1F"/>
              </a:solidFill>
              <a:latin typeface="Arial"/>
              <a:ea typeface="Arial"/>
              <a:cs typeface="Arial"/>
              <a:sym typeface="Arial"/>
            </a:endParaRPr>
          </a:p>
          <a:p>
            <a:pPr indent="-228600" lvl="0" marL="228600" rtl="0" algn="just">
              <a:lnSpc>
                <a:spcPct val="90000"/>
              </a:lnSpc>
              <a:spcBef>
                <a:spcPts val="1000"/>
              </a:spcBef>
              <a:spcAft>
                <a:spcPts val="0"/>
              </a:spcAft>
              <a:buClr>
                <a:srgbClr val="1F1F1F"/>
              </a:buClr>
              <a:buSzPct val="100000"/>
              <a:buChar char="•"/>
            </a:pPr>
            <a:r>
              <a:rPr b="0" i="0" lang="en-US">
                <a:solidFill>
                  <a:srgbClr val="1F1F1F"/>
                </a:solidFill>
                <a:latin typeface="Arial"/>
                <a:ea typeface="Arial"/>
                <a:cs typeface="Arial"/>
                <a:sym typeface="Arial"/>
              </a:rPr>
              <a:t>The methylation process is suppressed in areas around promoter region of genes where transcription begins and hence these areas contain a relatively high concentration of the CpG dinucleotide. Such regions are called CpG islands, whose length varies from few hundreds to few thousands bases.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570571" y="-18128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Methylation</a:t>
            </a:r>
            <a:endParaRPr b="1">
              <a:solidFill>
                <a:srgbClr val="FF0000"/>
              </a:solidFill>
            </a:endParaRPr>
          </a:p>
        </p:txBody>
      </p:sp>
      <p:pic>
        <p:nvPicPr>
          <p:cNvPr id="98" name="Google Shape;98;p3"/>
          <p:cNvPicPr preferRelativeResize="0"/>
          <p:nvPr>
            <p:ph idx="1" type="body"/>
          </p:nvPr>
        </p:nvPicPr>
        <p:blipFill rotWithShape="1">
          <a:blip r:embed="rId3">
            <a:alphaModFix/>
          </a:blip>
          <a:srcRect b="0" l="0" r="0" t="0"/>
          <a:stretch/>
        </p:blipFill>
        <p:spPr>
          <a:xfrm>
            <a:off x="0" y="1537242"/>
            <a:ext cx="5114925" cy="1590675"/>
          </a:xfrm>
          <a:prstGeom prst="rect">
            <a:avLst/>
          </a:prstGeom>
          <a:noFill/>
          <a:ln>
            <a:noFill/>
          </a:ln>
        </p:spPr>
      </p:pic>
      <p:pic>
        <p:nvPicPr>
          <p:cNvPr id="99" name="Google Shape;99;p3"/>
          <p:cNvPicPr preferRelativeResize="0"/>
          <p:nvPr/>
        </p:nvPicPr>
        <p:blipFill rotWithShape="1">
          <a:blip r:embed="rId4">
            <a:alphaModFix/>
          </a:blip>
          <a:srcRect b="0" l="0" r="0" t="0"/>
          <a:stretch/>
        </p:blipFill>
        <p:spPr>
          <a:xfrm>
            <a:off x="4629150" y="1010696"/>
            <a:ext cx="7562850" cy="5438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CpG Islands</a:t>
            </a:r>
            <a:endParaRPr/>
          </a:p>
        </p:txBody>
      </p:sp>
      <p:sp>
        <p:nvSpPr>
          <p:cNvPr id="105" name="Google Shape;105;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CpG-islands are useful markers for genes in organisms</a:t>
            </a:r>
            <a:endParaRPr/>
          </a:p>
          <a:p>
            <a:pPr indent="-228600" lvl="0" marL="228600" rtl="0" algn="l">
              <a:lnSpc>
                <a:spcPct val="90000"/>
              </a:lnSpc>
              <a:spcBef>
                <a:spcPts val="1000"/>
              </a:spcBef>
              <a:spcAft>
                <a:spcPts val="0"/>
              </a:spcAft>
              <a:buClr>
                <a:schemeClr val="dk1"/>
              </a:buClr>
              <a:buSzPts val="2800"/>
              <a:buChar char="•"/>
            </a:pPr>
            <a:r>
              <a:rPr lang="en-US"/>
              <a:t>CpG-islands in the promoter-regions of genes play an important role in the deactivation of one copy of the X-chromosome in females, in genetic imprinting and in the deactivation of intra-genomic parasites.</a:t>
            </a:r>
            <a:endParaRPr/>
          </a:p>
          <a:p>
            <a:pPr indent="-228600" lvl="0" marL="228600" rtl="0" algn="l">
              <a:lnSpc>
                <a:spcPct val="90000"/>
              </a:lnSpc>
              <a:spcBef>
                <a:spcPts val="1000"/>
              </a:spcBef>
              <a:spcAft>
                <a:spcPts val="0"/>
              </a:spcAft>
              <a:buClr>
                <a:schemeClr val="dk1"/>
              </a:buClr>
              <a:buSzPts val="2800"/>
              <a:buChar char="•"/>
            </a:pPr>
            <a:r>
              <a:rPr lang="en-US"/>
              <a:t>Human Chromosomes 21 and 22 contain about 1100 CpG-islands and about 750 genes.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CpG Islands</a:t>
            </a:r>
            <a:endParaRPr/>
          </a:p>
        </p:txBody>
      </p:sp>
      <p:sp>
        <p:nvSpPr>
          <p:cNvPr id="111" name="Google Shape;1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a:t>Almost all cells in an organism have the same DNA sequence. The difference lies in the levels of gene expression.</a:t>
            </a:r>
            <a:endParaRPr/>
          </a:p>
          <a:p>
            <a:pPr indent="-228600" lvl="0" marL="228600" rtl="0" algn="just">
              <a:lnSpc>
                <a:spcPct val="90000"/>
              </a:lnSpc>
              <a:spcBef>
                <a:spcPts val="1000"/>
              </a:spcBef>
              <a:spcAft>
                <a:spcPts val="0"/>
              </a:spcAft>
              <a:buClr>
                <a:schemeClr val="dk1"/>
              </a:buClr>
              <a:buSzPct val="100000"/>
              <a:buChar char="•"/>
            </a:pPr>
            <a:r>
              <a:rPr lang="en-US"/>
              <a:t>One common way that genes are turned off is by a chemical change called methylation at the promoter CGI. Promoter regions of housekeeping genes are usually unmethylated.</a:t>
            </a:r>
            <a:endParaRPr/>
          </a:p>
          <a:p>
            <a:pPr indent="-228600" lvl="0" marL="228600" rtl="0" algn="just">
              <a:lnSpc>
                <a:spcPct val="90000"/>
              </a:lnSpc>
              <a:spcBef>
                <a:spcPts val="1000"/>
              </a:spcBef>
              <a:spcAft>
                <a:spcPts val="0"/>
              </a:spcAft>
              <a:buClr>
                <a:schemeClr val="dk1"/>
              </a:buClr>
              <a:buSzPct val="100000"/>
              <a:buChar char="•"/>
            </a:pPr>
            <a:r>
              <a:rPr lang="en-US"/>
              <a:t>Appropriate methylation of CGIs is needed for normal development. If methylation occurs when it should not in tumor suppression genes, then problems such as cancer can result.</a:t>
            </a:r>
            <a:endParaRPr/>
          </a:p>
          <a:p>
            <a:pPr indent="-228600" lvl="0" marL="228600" rtl="0" algn="just">
              <a:lnSpc>
                <a:spcPct val="90000"/>
              </a:lnSpc>
              <a:spcBef>
                <a:spcPts val="1000"/>
              </a:spcBef>
              <a:spcAft>
                <a:spcPts val="0"/>
              </a:spcAft>
              <a:buClr>
                <a:schemeClr val="dk1"/>
              </a:buClr>
              <a:buSzPct val="100000"/>
              <a:buChar char="•"/>
            </a:pPr>
            <a:r>
              <a:rPr lang="en-US"/>
              <a:t>In mammals, 70-80% of CpG cytosines are methylated, but it depends on the type of cell. For example, hemoglobin genes should be methylated (and shut off) in skin cells but unmethylated (and expressed) in red blood precursors.</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117" name="Google Shape;117;p6"/>
          <p:cNvPicPr preferRelativeResize="0"/>
          <p:nvPr>
            <p:ph idx="1" type="body"/>
          </p:nvPr>
        </p:nvPicPr>
        <p:blipFill rotWithShape="1">
          <a:blip r:embed="rId3">
            <a:alphaModFix/>
          </a:blip>
          <a:srcRect b="0" l="0" r="0" t="0"/>
          <a:stretch/>
        </p:blipFill>
        <p:spPr>
          <a:xfrm>
            <a:off x="6348835" y="58988"/>
            <a:ext cx="4088631" cy="6433887"/>
          </a:xfrm>
          <a:prstGeom prst="rect">
            <a:avLst/>
          </a:prstGeom>
          <a:noFill/>
          <a:ln>
            <a:noFill/>
          </a:ln>
        </p:spPr>
      </p:pic>
      <p:sp>
        <p:nvSpPr>
          <p:cNvPr id="118" name="Google Shape;118;p6"/>
          <p:cNvSpPr txBox="1"/>
          <p:nvPr/>
        </p:nvSpPr>
        <p:spPr>
          <a:xfrm>
            <a:off x="559573" y="3429000"/>
            <a:ext cx="4480777"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Arial"/>
                <a:ea typeface="Arial"/>
                <a:cs typeface="Arial"/>
                <a:sym typeface="Arial"/>
              </a:rPr>
              <a:t>The sample is of a gene-promoter , the highlighted ATG constitutes the start codon</a:t>
            </a:r>
            <a:endParaRPr sz="20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CpG Characterization</a:t>
            </a:r>
            <a:endParaRPr b="1">
              <a:solidFill>
                <a:srgbClr val="FF0000"/>
              </a:solidFill>
            </a:endParaRPr>
          </a:p>
        </p:txBody>
      </p:sp>
      <p:sp>
        <p:nvSpPr>
          <p:cNvPr id="124" name="Google Shape;124;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sequence in a vertebrate genome is CpG island if:</a:t>
            </a:r>
            <a:endParaRPr/>
          </a:p>
          <a:p>
            <a:pPr indent="0" lvl="0" marL="0" rtl="0" algn="l">
              <a:lnSpc>
                <a:spcPct val="90000"/>
              </a:lnSpc>
              <a:spcBef>
                <a:spcPts val="1000"/>
              </a:spcBef>
              <a:spcAft>
                <a:spcPts val="0"/>
              </a:spcAft>
              <a:buClr>
                <a:schemeClr val="dk1"/>
              </a:buClr>
              <a:buSzPts val="2800"/>
              <a:buNone/>
            </a:pPr>
            <a:r>
              <a:rPr lang="en-US"/>
              <a:t>   (1) it has length at least 200 bp</a:t>
            </a:r>
            <a:endParaRPr/>
          </a:p>
          <a:p>
            <a:pPr indent="0" lvl="0" marL="0" rtl="0" algn="l">
              <a:lnSpc>
                <a:spcPct val="90000"/>
              </a:lnSpc>
              <a:spcBef>
                <a:spcPts val="1000"/>
              </a:spcBef>
              <a:spcAft>
                <a:spcPts val="0"/>
              </a:spcAft>
              <a:buClr>
                <a:schemeClr val="dk1"/>
              </a:buClr>
              <a:buSzPts val="2800"/>
              <a:buNone/>
            </a:pPr>
            <a:r>
              <a:rPr lang="en-US"/>
              <a:t>   (2) C + G content of at least 50 %</a:t>
            </a:r>
            <a:endParaRPr/>
          </a:p>
          <a:p>
            <a:pPr indent="0" lvl="0" marL="0" rtl="0" algn="l">
              <a:lnSpc>
                <a:spcPct val="90000"/>
              </a:lnSpc>
              <a:spcBef>
                <a:spcPts val="1000"/>
              </a:spcBef>
              <a:spcAft>
                <a:spcPts val="0"/>
              </a:spcAft>
              <a:buClr>
                <a:schemeClr val="dk1"/>
              </a:buClr>
              <a:buSzPts val="2800"/>
              <a:buNone/>
            </a:pPr>
            <a:r>
              <a:rPr lang="en-US"/>
              <a:t>   (3) observed-to-expected number of CpG’s above 60 %</a:t>
            </a:r>
            <a:endParaRPr/>
          </a:p>
          <a:p>
            <a:pPr indent="0" lvl="0" marL="0" rtl="0" algn="l">
              <a:lnSpc>
                <a:spcPct val="90000"/>
              </a:lnSpc>
              <a:spcBef>
                <a:spcPts val="1000"/>
              </a:spcBef>
              <a:spcAft>
                <a:spcPts val="0"/>
              </a:spcAft>
              <a:buClr>
                <a:schemeClr val="dk1"/>
              </a:buClr>
              <a:buSzPts val="2800"/>
              <a:buNone/>
            </a:pPr>
            <a:r>
              <a:rPr lang="en-US"/>
              <a:t>         Expected number of CpGs = (#C’s). (#G’s) / length of sequence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FF0000"/>
              </a:buClr>
              <a:buSzPct val="122222"/>
              <a:buFont typeface="Play"/>
              <a:buNone/>
            </a:pPr>
            <a:r>
              <a:rPr lang="en-US">
                <a:solidFill>
                  <a:srgbClr val="FF0000"/>
                </a:solidFill>
              </a:rPr>
              <a:t>MATLAB  Function – cpgisland</a:t>
            </a:r>
            <a:br>
              <a:rPr lang="en-US">
                <a:solidFill>
                  <a:srgbClr val="FF0000"/>
                </a:solidFill>
              </a:rPr>
            </a:br>
            <a:r>
              <a:rPr lang="en-US" sz="3600" u="sng">
                <a:solidFill>
                  <a:schemeClr val="hlink"/>
                </a:solidFill>
                <a:hlinkClick r:id="rId3"/>
              </a:rPr>
              <a:t>https://www.mathworks.com/help/bioinfo/ref/cpgisland.html</a:t>
            </a:r>
            <a:endParaRPr sz="3600">
              <a:solidFill>
                <a:srgbClr val="FF0000"/>
              </a:solidFill>
            </a:endParaRPr>
          </a:p>
        </p:txBody>
      </p:sp>
      <p:sp>
        <p:nvSpPr>
          <p:cNvPr id="130" name="Google Shape;130;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Cpgisland - Locate CpG islands in DNA sequence</a:t>
            </a:r>
            <a:endParaRPr/>
          </a:p>
          <a:p>
            <a:pPr indent="-228600" lvl="0" marL="228600" rtl="0" algn="l">
              <a:lnSpc>
                <a:spcPct val="90000"/>
              </a:lnSpc>
              <a:spcBef>
                <a:spcPts val="1000"/>
              </a:spcBef>
              <a:spcAft>
                <a:spcPts val="0"/>
              </a:spcAft>
              <a:buClr>
                <a:srgbClr val="0070C0"/>
              </a:buClr>
              <a:buSzPts val="2800"/>
              <a:buChar char="•"/>
            </a:pPr>
            <a:r>
              <a:rPr lang="en-US">
                <a:solidFill>
                  <a:srgbClr val="0070C0"/>
                </a:solidFill>
              </a:rPr>
              <a:t>Syntax</a:t>
            </a:r>
            <a:endParaRPr/>
          </a:p>
          <a:p>
            <a:pPr indent="-228600" lvl="0" marL="228600" rtl="0" algn="l">
              <a:lnSpc>
                <a:spcPct val="90000"/>
              </a:lnSpc>
              <a:spcBef>
                <a:spcPts val="1000"/>
              </a:spcBef>
              <a:spcAft>
                <a:spcPts val="0"/>
              </a:spcAft>
              <a:buClr>
                <a:schemeClr val="dk1"/>
              </a:buClr>
              <a:buSzPts val="2800"/>
              <a:buChar char="•"/>
            </a:pPr>
            <a:r>
              <a:rPr lang="en-US"/>
              <a:t>cpgStruct = cpgisland(SeqDNA)</a:t>
            </a:r>
            <a:endParaRPr/>
          </a:p>
          <a:p>
            <a:pPr indent="-228600" lvl="0" marL="228600" rtl="0" algn="l">
              <a:lnSpc>
                <a:spcPct val="90000"/>
              </a:lnSpc>
              <a:spcBef>
                <a:spcPts val="1000"/>
              </a:spcBef>
              <a:spcAft>
                <a:spcPts val="0"/>
              </a:spcAft>
              <a:buClr>
                <a:schemeClr val="dk1"/>
              </a:buClr>
              <a:buSzPts val="2800"/>
              <a:buChar char="•"/>
            </a:pPr>
            <a:r>
              <a:rPr lang="en-US"/>
              <a:t>cpgStruct = cpgisland(SeqDNA, ...'Window', WindowValue, ...)</a:t>
            </a:r>
            <a:endParaRPr/>
          </a:p>
          <a:p>
            <a:pPr indent="-228600" lvl="0" marL="228600" rtl="0" algn="l">
              <a:lnSpc>
                <a:spcPct val="90000"/>
              </a:lnSpc>
              <a:spcBef>
                <a:spcPts val="1000"/>
              </a:spcBef>
              <a:spcAft>
                <a:spcPts val="0"/>
              </a:spcAft>
              <a:buClr>
                <a:schemeClr val="dk1"/>
              </a:buClr>
              <a:buSzPts val="2800"/>
              <a:buChar char="•"/>
            </a:pPr>
            <a:r>
              <a:rPr lang="en-US"/>
              <a:t>cpgStruct = cpgisland(SeqDNA, ...'MinIsland', MinIslandValue, ...)</a:t>
            </a:r>
            <a:endParaRPr/>
          </a:p>
          <a:p>
            <a:pPr indent="-228600" lvl="0" marL="228600" rtl="0" algn="l">
              <a:lnSpc>
                <a:spcPct val="90000"/>
              </a:lnSpc>
              <a:spcBef>
                <a:spcPts val="1000"/>
              </a:spcBef>
              <a:spcAft>
                <a:spcPts val="0"/>
              </a:spcAft>
              <a:buClr>
                <a:schemeClr val="dk1"/>
              </a:buClr>
              <a:buSzPts val="2800"/>
              <a:buChar char="•"/>
            </a:pPr>
            <a:r>
              <a:rPr lang="en-US"/>
              <a:t>cpgStruct = cpgisland(SeqDNA, ...'GCmin', GCminValue, ...)</a:t>
            </a:r>
            <a:endParaRPr/>
          </a:p>
          <a:p>
            <a:pPr indent="-228600" lvl="0" marL="228600" rtl="0" algn="l">
              <a:lnSpc>
                <a:spcPct val="90000"/>
              </a:lnSpc>
              <a:spcBef>
                <a:spcPts val="1000"/>
              </a:spcBef>
              <a:spcAft>
                <a:spcPts val="0"/>
              </a:spcAft>
              <a:buClr>
                <a:schemeClr val="dk1"/>
              </a:buClr>
              <a:buSzPts val="2800"/>
              <a:buChar char="•"/>
            </a:pPr>
            <a:r>
              <a:rPr lang="en-US"/>
              <a:t>cpgStruct = cpgisland(SeqDNA, ...'CpGoe', CpGoeValue, ...)</a:t>
            </a:r>
            <a:endParaRPr/>
          </a:p>
          <a:p>
            <a:pPr indent="-228600" lvl="0" marL="228600" rtl="0" algn="l">
              <a:lnSpc>
                <a:spcPct val="90000"/>
              </a:lnSpc>
              <a:spcBef>
                <a:spcPts val="1000"/>
              </a:spcBef>
              <a:spcAft>
                <a:spcPts val="0"/>
              </a:spcAft>
              <a:buClr>
                <a:schemeClr val="dk1"/>
              </a:buClr>
              <a:buSzPts val="2800"/>
              <a:buChar char="•"/>
            </a:pPr>
            <a:r>
              <a:rPr lang="en-US"/>
              <a:t>cpgStruct = cpgisland(SeqDNA, ...'Plot', PlotValue,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838200" y="381443"/>
            <a:ext cx="10515600" cy="70539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FF0000"/>
              </a:buClr>
              <a:buSzPct val="100000"/>
              <a:buFont typeface="Play"/>
              <a:buNone/>
            </a:pPr>
            <a:r>
              <a:rPr lang="en-US">
                <a:solidFill>
                  <a:srgbClr val="FF0000"/>
                </a:solidFill>
              </a:rPr>
              <a:t>MATLAB  Function – cpgisland</a:t>
            </a:r>
            <a:br>
              <a:rPr lang="en-US">
                <a:solidFill>
                  <a:srgbClr val="FF0000"/>
                </a:solidFill>
              </a:rPr>
            </a:br>
            <a:r>
              <a:rPr lang="en-US">
                <a:solidFill>
                  <a:srgbClr val="FF0000"/>
                </a:solidFill>
              </a:rPr>
              <a:t>Input Arguments</a:t>
            </a:r>
            <a:endParaRPr/>
          </a:p>
        </p:txBody>
      </p:sp>
      <p:graphicFrame>
        <p:nvGraphicFramePr>
          <p:cNvPr id="136" name="Google Shape;136;p9"/>
          <p:cNvGraphicFramePr/>
          <p:nvPr/>
        </p:nvGraphicFramePr>
        <p:xfrm>
          <a:off x="3189249" y="1371600"/>
          <a:ext cx="3000000" cy="3000000"/>
        </p:xfrm>
        <a:graphic>
          <a:graphicData uri="http://schemas.openxmlformats.org/drawingml/2006/table">
            <a:tbl>
              <a:tblPr>
                <a:noFill/>
                <a:tableStyleId>{2848C1A2-6DD1-448B-B913-891EF0EE872A}</a:tableStyleId>
              </a:tblPr>
              <a:tblGrid>
                <a:gridCol w="1333150"/>
                <a:gridCol w="3794375"/>
              </a:tblGrid>
              <a:tr h="1665900">
                <a:tc>
                  <a:txBody>
                    <a:bodyPr/>
                    <a:lstStyle/>
                    <a:p>
                      <a:pPr indent="0" lvl="0" marL="0" marR="0" rtl="0" algn="l">
                        <a:spcBef>
                          <a:spcPts val="0"/>
                        </a:spcBef>
                        <a:spcAft>
                          <a:spcPts val="0"/>
                        </a:spcAft>
                        <a:buNone/>
                      </a:pPr>
                      <a:r>
                        <a:rPr i="1" lang="en-US" sz="1000" u="none" cap="none" strike="noStrike"/>
                        <a:t>SeqDNA</a:t>
                      </a:r>
                      <a:endParaRPr sz="1000" u="none" cap="none" strike="noStrike"/>
                    </a:p>
                  </a:txBody>
                  <a:tcPr marT="12500" marB="12500" marR="20850" marL="20850">
                    <a:lnL cap="flat" cmpd="sng" w="9525">
                      <a:solidFill>
                        <a:srgbClr val="000000">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000" u="none" cap="none" strike="noStrike"/>
                        <a:t>One of the following:</a:t>
                      </a:r>
                      <a:endParaRPr/>
                    </a:p>
                    <a:p>
                      <a:pPr indent="-63500" lvl="0" marL="0" marR="0" rtl="0" algn="l">
                        <a:spcBef>
                          <a:spcPts val="0"/>
                        </a:spcBef>
                        <a:spcAft>
                          <a:spcPts val="0"/>
                        </a:spcAft>
                        <a:buClr>
                          <a:schemeClr val="dk1"/>
                        </a:buClr>
                        <a:buSzPts val="1000"/>
                        <a:buFont typeface="Arial"/>
                        <a:buChar char="•"/>
                      </a:pPr>
                      <a:r>
                        <a:rPr lang="en-US" sz="1000" u="none" cap="none" strike="noStrike"/>
                        <a:t>Character vector or string specifying a nucleotide sequence</a:t>
                      </a:r>
                      <a:endParaRPr/>
                    </a:p>
                    <a:p>
                      <a:pPr indent="-63500" lvl="0" marL="0" marR="0" rtl="0" algn="l">
                        <a:spcBef>
                          <a:spcPts val="0"/>
                        </a:spcBef>
                        <a:spcAft>
                          <a:spcPts val="0"/>
                        </a:spcAft>
                        <a:buClr>
                          <a:schemeClr val="dk1"/>
                        </a:buClr>
                        <a:buSzPts val="1000"/>
                        <a:buFont typeface="Arial"/>
                        <a:buChar char="•"/>
                      </a:pPr>
                      <a:r>
                        <a:rPr lang="en-US" sz="1000" u="none" cap="none" strike="noStrike"/>
                        <a:t>Row vector of integers specifying a nucleotide sequence</a:t>
                      </a:r>
                      <a:endParaRPr/>
                    </a:p>
                    <a:p>
                      <a:pPr indent="-63500" lvl="0" marL="0" marR="0" rtl="0" algn="l">
                        <a:spcBef>
                          <a:spcPts val="0"/>
                        </a:spcBef>
                        <a:spcAft>
                          <a:spcPts val="0"/>
                        </a:spcAft>
                        <a:buClr>
                          <a:schemeClr val="dk1"/>
                        </a:buClr>
                        <a:buSzPts val="1000"/>
                        <a:buFont typeface="Arial"/>
                        <a:buChar char="•"/>
                      </a:pPr>
                      <a:r>
                        <a:rPr lang="en-US" sz="1000" u="none" cap="none" strike="noStrike"/>
                        <a:t>MATLAB</a:t>
                      </a:r>
                      <a:r>
                        <a:rPr baseline="30000" lang="en-US" sz="1000" u="none" cap="none" strike="noStrike"/>
                        <a:t>®</a:t>
                      </a:r>
                      <a:r>
                        <a:rPr lang="en-US" sz="1000" u="none" cap="none" strike="noStrike"/>
                        <a:t> structure containing a Sequence field that contains a DNA nucleotide sequence, such as returned by </a:t>
                      </a:r>
                      <a:r>
                        <a:rPr lang="en-US" sz="1000" u="sng" cap="none" strike="noStrike">
                          <a:solidFill>
                            <a:srgbClr val="0076A8"/>
                          </a:solidFill>
                          <a:hlinkClick r:id="rId3">
                            <a:extLst>
                              <a:ext uri="{A12FA001-AC4F-418D-AE19-62706E023703}">
                                <ahyp:hlinkClr val="tx"/>
                              </a:ext>
                            </a:extLst>
                          </a:hlinkClick>
                        </a:rPr>
                        <a:t>fastaread</a:t>
                      </a:r>
                      <a:r>
                        <a:rPr lang="en-US" sz="1000" u="none" cap="none" strike="noStrike"/>
                        <a:t>, </a:t>
                      </a:r>
                      <a:r>
                        <a:rPr lang="en-US" sz="1000" u="sng" cap="none" strike="noStrike">
                          <a:solidFill>
                            <a:srgbClr val="0076A8"/>
                          </a:solidFill>
                          <a:hlinkClick r:id="rId4">
                            <a:extLst>
                              <a:ext uri="{A12FA001-AC4F-418D-AE19-62706E023703}">
                                <ahyp:hlinkClr val="tx"/>
                              </a:ext>
                            </a:extLst>
                          </a:hlinkClick>
                        </a:rPr>
                        <a:t>fastqread</a:t>
                      </a:r>
                      <a:r>
                        <a:rPr lang="en-US" sz="1000" u="none" cap="none" strike="noStrike"/>
                        <a:t>, </a:t>
                      </a:r>
                      <a:r>
                        <a:rPr lang="en-US" sz="1000" u="sng" cap="none" strike="noStrike">
                          <a:solidFill>
                            <a:srgbClr val="0076A8"/>
                          </a:solidFill>
                          <a:hlinkClick r:id="rId5">
                            <a:extLst>
                              <a:ext uri="{A12FA001-AC4F-418D-AE19-62706E023703}">
                                <ahyp:hlinkClr val="tx"/>
                              </a:ext>
                            </a:extLst>
                          </a:hlinkClick>
                        </a:rPr>
                        <a:t>emblread</a:t>
                      </a:r>
                      <a:r>
                        <a:rPr lang="en-US" sz="1000" u="none" cap="none" strike="noStrike"/>
                        <a:t>, </a:t>
                      </a:r>
                      <a:r>
                        <a:rPr lang="en-US" sz="1000" u="sng" cap="none" strike="noStrike">
                          <a:solidFill>
                            <a:srgbClr val="0076A8"/>
                          </a:solidFill>
                          <a:hlinkClick r:id="rId6">
                            <a:extLst>
                              <a:ext uri="{A12FA001-AC4F-418D-AE19-62706E023703}">
                                <ahyp:hlinkClr val="tx"/>
                              </a:ext>
                            </a:extLst>
                          </a:hlinkClick>
                        </a:rPr>
                        <a:t>getembl</a:t>
                      </a:r>
                      <a:r>
                        <a:rPr lang="en-US" sz="1000" u="none" cap="none" strike="noStrike"/>
                        <a:t>, </a:t>
                      </a:r>
                      <a:r>
                        <a:rPr lang="en-US" sz="1000" u="sng" cap="none" strike="noStrike">
                          <a:solidFill>
                            <a:srgbClr val="0076A8"/>
                          </a:solidFill>
                          <a:hlinkClick r:id="rId7">
                            <a:extLst>
                              <a:ext uri="{A12FA001-AC4F-418D-AE19-62706E023703}">
                                <ahyp:hlinkClr val="tx"/>
                              </a:ext>
                            </a:extLst>
                          </a:hlinkClick>
                        </a:rPr>
                        <a:t>genbankread</a:t>
                      </a:r>
                      <a:r>
                        <a:rPr lang="en-US" sz="1000" u="none" cap="none" strike="noStrike"/>
                        <a:t>, or </a:t>
                      </a:r>
                      <a:r>
                        <a:rPr lang="en-US" sz="1000" u="sng" cap="none" strike="noStrike">
                          <a:solidFill>
                            <a:srgbClr val="0076A8"/>
                          </a:solidFill>
                          <a:hlinkClick r:id="rId8">
                            <a:extLst>
                              <a:ext uri="{A12FA001-AC4F-418D-AE19-62706E023703}">
                                <ahyp:hlinkClr val="tx"/>
                              </a:ext>
                            </a:extLst>
                          </a:hlinkClick>
                        </a:rPr>
                        <a:t>getgenbank</a:t>
                      </a:r>
                      <a:endParaRPr sz="1000" u="none" cap="none" strike="noStrike"/>
                    </a:p>
                    <a:p>
                      <a:pPr indent="0" lvl="0" marL="0" marR="0" rtl="0" algn="l">
                        <a:spcBef>
                          <a:spcPts val="0"/>
                        </a:spcBef>
                        <a:spcAft>
                          <a:spcPts val="0"/>
                        </a:spcAft>
                        <a:buNone/>
                      </a:pPr>
                      <a:r>
                        <a:rPr lang="en-US" sz="1000" u="none" cap="none" strike="noStrike"/>
                        <a:t>Valid characters include A, C, G, and T.</a:t>
                      </a:r>
                      <a:endParaRPr/>
                    </a:p>
                    <a:p>
                      <a:pPr indent="0" lvl="0" marL="0" marR="0" rtl="0" algn="l">
                        <a:spcBef>
                          <a:spcPts val="0"/>
                        </a:spcBef>
                        <a:spcAft>
                          <a:spcPts val="0"/>
                        </a:spcAft>
                        <a:buNone/>
                      </a:pPr>
                      <a:r>
                        <a:rPr lang="en-US" sz="1000" u="none" cap="none" strike="noStrike"/>
                        <a:t>cpgisland does not count ambiguous nucleotides or gaps.</a:t>
                      </a:r>
                      <a:endParaRPr/>
                    </a:p>
                  </a:txBody>
                  <a:tcPr marT="12500" marB="12500" marR="20850" marL="20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682500">
                <a:tc>
                  <a:txBody>
                    <a:bodyPr/>
                    <a:lstStyle/>
                    <a:p>
                      <a:pPr indent="0" lvl="0" marL="0" marR="0" rtl="0" algn="l">
                        <a:spcBef>
                          <a:spcPts val="0"/>
                        </a:spcBef>
                        <a:spcAft>
                          <a:spcPts val="0"/>
                        </a:spcAft>
                        <a:buNone/>
                      </a:pPr>
                      <a:r>
                        <a:rPr i="1" lang="en-US" sz="1000" u="none" cap="none" strike="noStrike"/>
                        <a:t>WindowValue</a:t>
                      </a:r>
                      <a:endParaRPr sz="1000" u="none" cap="none" strike="noStrike"/>
                    </a:p>
                  </a:txBody>
                  <a:tcPr marT="12500" marB="12500" marR="20850" marL="20850">
                    <a:lnL cap="flat" cmpd="sng" w="9525">
                      <a:solidFill>
                        <a:srgbClr val="000000">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000" u="none" cap="none" strike="noStrike"/>
                        <a:t>Integer specifying the window size for calculating GC content and CpGobserved/CpGexpected ratios. Default is 100 bases. A smaller window size increases the noise in a plot.</a:t>
                      </a:r>
                      <a:endParaRPr/>
                    </a:p>
                  </a:txBody>
                  <a:tcPr marT="12500" marB="12500" marR="20850" marL="20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18600">
                <a:tc>
                  <a:txBody>
                    <a:bodyPr/>
                    <a:lstStyle/>
                    <a:p>
                      <a:pPr indent="0" lvl="0" marL="0" marR="0" rtl="0" algn="l">
                        <a:spcBef>
                          <a:spcPts val="0"/>
                        </a:spcBef>
                        <a:spcAft>
                          <a:spcPts val="0"/>
                        </a:spcAft>
                        <a:buNone/>
                      </a:pPr>
                      <a:r>
                        <a:rPr i="1" lang="en-US" sz="1000" u="none" cap="none" strike="noStrike"/>
                        <a:t>MinIslandValue</a:t>
                      </a:r>
                      <a:endParaRPr sz="1000" u="none" cap="none" strike="noStrike"/>
                    </a:p>
                  </a:txBody>
                  <a:tcPr marT="12500" marB="12500" marR="20850" marL="20850">
                    <a:lnL cap="flat" cmpd="sng" w="9525">
                      <a:solidFill>
                        <a:srgbClr val="000000">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000" u="none" cap="none" strike="noStrike"/>
                        <a:t>Integer specifying the minimum number of consecutive marked bases to report as a CpG island. Default is 200 bases.</a:t>
                      </a:r>
                      <a:endParaRPr/>
                    </a:p>
                  </a:txBody>
                  <a:tcPr marT="12500" marB="12500" marR="20850" marL="20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18600">
                <a:tc>
                  <a:txBody>
                    <a:bodyPr/>
                    <a:lstStyle/>
                    <a:p>
                      <a:pPr indent="0" lvl="0" marL="0" marR="0" rtl="0" algn="l">
                        <a:spcBef>
                          <a:spcPts val="0"/>
                        </a:spcBef>
                        <a:spcAft>
                          <a:spcPts val="0"/>
                        </a:spcAft>
                        <a:buNone/>
                      </a:pPr>
                      <a:r>
                        <a:rPr i="1" lang="en-US" sz="1000" u="none" cap="none" strike="noStrike"/>
                        <a:t>GCminValue</a:t>
                      </a:r>
                      <a:endParaRPr sz="1000" u="none" cap="none" strike="noStrike"/>
                    </a:p>
                  </a:txBody>
                  <a:tcPr marT="12500" marB="12500" marR="20850" marL="20850">
                    <a:lnL cap="flat" cmpd="sng" w="9525">
                      <a:solidFill>
                        <a:srgbClr val="000000">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000" u="none" cap="none" strike="noStrike"/>
                        <a:t>Value specifying the minimum GC percent in a window needed to mark a base. Choices are a value between 0 and 1. Default is 0.5.</a:t>
                      </a:r>
                      <a:endParaRPr/>
                    </a:p>
                  </a:txBody>
                  <a:tcPr marT="12500" marB="12500" marR="20850" marL="20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846400">
                <a:tc>
                  <a:txBody>
                    <a:bodyPr/>
                    <a:lstStyle/>
                    <a:p>
                      <a:pPr indent="0" lvl="0" marL="0" marR="0" rtl="0" algn="l">
                        <a:spcBef>
                          <a:spcPts val="0"/>
                        </a:spcBef>
                        <a:spcAft>
                          <a:spcPts val="0"/>
                        </a:spcAft>
                        <a:buNone/>
                      </a:pPr>
                      <a:r>
                        <a:rPr i="1" lang="en-US" sz="1000" u="none" cap="none" strike="noStrike"/>
                        <a:t>CpGoeValue</a:t>
                      </a:r>
                      <a:endParaRPr sz="1000" u="none" cap="none" strike="noStrike"/>
                    </a:p>
                  </a:txBody>
                  <a:tcPr marT="12500" marB="12500" marR="20850" marL="20850">
                    <a:lnL cap="flat" cmpd="sng" w="9525">
                      <a:solidFill>
                        <a:srgbClr val="000000">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000" u="none" cap="none" strike="noStrike"/>
                        <a:t>Value specifying the minimum CpGobserved/CpGexpected ratio in each window needed to mark a base. Choices are a value between 0 and 1. Default is 0.6. This ratio is defined as:</a:t>
                      </a:r>
                      <a:endParaRPr/>
                    </a:p>
                    <a:p>
                      <a:pPr indent="0" lvl="0" marL="0" marR="0" rtl="0" algn="l">
                        <a:spcBef>
                          <a:spcPts val="0"/>
                        </a:spcBef>
                        <a:spcAft>
                          <a:spcPts val="0"/>
                        </a:spcAft>
                        <a:buNone/>
                      </a:pPr>
                      <a:r>
                        <a:rPr lang="en-US" sz="1000" u="none" cap="none" strike="noStrike"/>
                        <a:t>CPGobs/CpGexp = (NumCpGs*Length)/(NumGs*NumCs)</a:t>
                      </a:r>
                      <a:endParaRPr/>
                    </a:p>
                  </a:txBody>
                  <a:tcPr marT="12500" marB="12500" marR="20850" marL="20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682500">
                <a:tc>
                  <a:txBody>
                    <a:bodyPr/>
                    <a:lstStyle/>
                    <a:p>
                      <a:pPr indent="0" lvl="0" marL="0" marR="0" rtl="0" algn="l">
                        <a:spcBef>
                          <a:spcPts val="0"/>
                        </a:spcBef>
                        <a:spcAft>
                          <a:spcPts val="0"/>
                        </a:spcAft>
                        <a:buNone/>
                      </a:pPr>
                      <a:r>
                        <a:rPr i="1" lang="en-US" sz="1000" u="none" cap="none" strike="noStrike"/>
                        <a:t>PlotValue</a:t>
                      </a:r>
                      <a:endParaRPr sz="1000" u="none" cap="none" strike="noStrike"/>
                    </a:p>
                  </a:txBody>
                  <a:tcPr marT="12500" marB="12500" marR="20850" marL="20850">
                    <a:lnL cap="flat" cmpd="sng" w="9525">
                      <a:solidFill>
                        <a:srgbClr val="000000">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000" u="none" cap="none" strike="noStrike"/>
                        <a:t>Controls the plotting of GC content, CpGoe content, CpG islands greater than the minimum island size, and all potential CpG islands for the specified criteria. Choices are true or false (default).</a:t>
                      </a:r>
                      <a:endParaRPr/>
                    </a:p>
                  </a:txBody>
                  <a:tcPr marT="12500" marB="12500" marR="20850" marL="208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Example</a:t>
            </a:r>
            <a:br>
              <a:rPr b="1" lang="en-US">
                <a:solidFill>
                  <a:srgbClr val="FF0000"/>
                </a:solidFill>
              </a:rPr>
            </a:br>
            <a:endParaRPr b="1">
              <a:solidFill>
                <a:srgbClr val="FF0000"/>
              </a:solidFill>
            </a:endParaRPr>
          </a:p>
        </p:txBody>
      </p:sp>
      <p:sp>
        <p:nvSpPr>
          <p:cNvPr id="142" name="Google Shape;142;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Import a nucleotide sequence from the GenBank® database. For example, retrieve a sequence from Homo sapiens chromosome 12.</a:t>
            </a:r>
            <a:endParaRPr/>
          </a:p>
          <a:p>
            <a:pPr indent="-228600" lvl="0" marL="228600" rtl="0" algn="l">
              <a:lnSpc>
                <a:spcPct val="90000"/>
              </a:lnSpc>
              <a:spcBef>
                <a:spcPts val="1000"/>
              </a:spcBef>
              <a:spcAft>
                <a:spcPts val="0"/>
              </a:spcAft>
              <a:buClr>
                <a:schemeClr val="dk1"/>
              </a:buClr>
              <a:buSzPct val="100000"/>
              <a:buChar char="•"/>
            </a:pPr>
            <a:r>
              <a:rPr lang="en-US"/>
              <a:t>S = getgenbank('AC156455');</a:t>
            </a:r>
            <a:endParaRPr/>
          </a:p>
          <a:p>
            <a:pPr indent="-228600" lvl="0" marL="228600" rtl="0" algn="l">
              <a:lnSpc>
                <a:spcPct val="90000"/>
              </a:lnSpc>
              <a:spcBef>
                <a:spcPts val="1000"/>
              </a:spcBef>
              <a:spcAft>
                <a:spcPts val="0"/>
              </a:spcAft>
              <a:buClr>
                <a:schemeClr val="dk1"/>
              </a:buClr>
              <a:buSzPct val="100000"/>
              <a:buChar char="•"/>
            </a:pPr>
            <a:r>
              <a:rPr lang="en-US"/>
              <a:t>Calculate the CpG islands in the sequence and plot the results.</a:t>
            </a:r>
            <a:endParaRPr/>
          </a:p>
          <a:p>
            <a:pPr indent="-228600" lvl="0" marL="228600" rtl="0" algn="l">
              <a:lnSpc>
                <a:spcPct val="90000"/>
              </a:lnSpc>
              <a:spcBef>
                <a:spcPts val="1000"/>
              </a:spcBef>
              <a:spcAft>
                <a:spcPts val="0"/>
              </a:spcAft>
              <a:buClr>
                <a:schemeClr val="dk1"/>
              </a:buClr>
              <a:buSzPct val="100000"/>
              <a:buChar char="•"/>
            </a:pPr>
            <a:r>
              <a:rPr lang="en-US"/>
              <a:t>cpgisland(S.Sequence,'PLOT',true)</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ans = </a:t>
            </a:r>
            <a:endParaRPr/>
          </a:p>
          <a:p>
            <a:pPr indent="-228600" lvl="0" marL="228600" rtl="0" algn="l">
              <a:lnSpc>
                <a:spcPct val="90000"/>
              </a:lnSpc>
              <a:spcBef>
                <a:spcPts val="1000"/>
              </a:spcBef>
              <a:spcAft>
                <a:spcPts val="0"/>
              </a:spcAft>
              <a:buClr>
                <a:schemeClr val="dk1"/>
              </a:buClr>
              <a:buSzPct val="100000"/>
              <a:buChar char="•"/>
            </a:pPr>
            <a:r>
              <a:rPr lang="en-US"/>
              <a:t>   </a:t>
            </a:r>
            <a:endParaRPr/>
          </a:p>
          <a:p>
            <a:pPr indent="-228600" lvl="0" marL="228600" rtl="0" algn="l">
              <a:lnSpc>
                <a:spcPct val="90000"/>
              </a:lnSpc>
              <a:spcBef>
                <a:spcPts val="1000"/>
              </a:spcBef>
              <a:spcAft>
                <a:spcPts val="0"/>
              </a:spcAft>
              <a:buClr>
                <a:schemeClr val="dk1"/>
              </a:buClr>
              <a:buSzPct val="100000"/>
              <a:buChar char="•"/>
            </a:pPr>
            <a:r>
              <a:rPr lang="en-US"/>
              <a:t>    Starts: [4510 29359]</a:t>
            </a:r>
            <a:endParaRPr/>
          </a:p>
          <a:p>
            <a:pPr indent="-228600" lvl="0" marL="228600" rtl="0" algn="l">
              <a:lnSpc>
                <a:spcPct val="90000"/>
              </a:lnSpc>
              <a:spcBef>
                <a:spcPts val="1000"/>
              </a:spcBef>
              <a:spcAft>
                <a:spcPts val="0"/>
              </a:spcAft>
              <a:buClr>
                <a:schemeClr val="dk1"/>
              </a:buClr>
              <a:buSzPct val="100000"/>
              <a:buChar char="•"/>
            </a:pPr>
            <a:r>
              <a:rPr lang="en-US"/>
              <a:t>     Stops: [5468 29604]</a:t>
            </a:r>
            <a:endParaRPr/>
          </a:p>
          <a:p>
            <a:pPr indent="-228600" lvl="0" marL="228600" rtl="0" algn="l">
              <a:lnSpc>
                <a:spcPct val="90000"/>
              </a:lnSpc>
              <a:spcBef>
                <a:spcPts val="1000"/>
              </a:spcBef>
              <a:spcAft>
                <a:spcPts val="0"/>
              </a:spcAft>
              <a:buClr>
                <a:schemeClr val="dk1"/>
              </a:buClr>
              <a:buSzPct val="100000"/>
              <a:buChar char="•"/>
            </a:pPr>
            <a:r>
              <a:rPr lang="en-US"/>
              <a:t>The CpG islands greater than 200 bases in length are listed and a plot displays.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148" name="Google Shape;148;p11"/>
          <p:cNvPicPr preferRelativeResize="0"/>
          <p:nvPr>
            <p:ph idx="1" type="body"/>
          </p:nvPr>
        </p:nvPicPr>
        <p:blipFill rotWithShape="1">
          <a:blip r:embed="rId3">
            <a:alphaModFix/>
          </a:blip>
          <a:srcRect b="0" l="0" r="0" t="0"/>
          <a:stretch/>
        </p:blipFill>
        <p:spPr>
          <a:xfrm>
            <a:off x="4616526" y="365125"/>
            <a:ext cx="6648000" cy="5909334"/>
          </a:xfrm>
          <a:prstGeom prst="rect">
            <a:avLst/>
          </a:prstGeom>
          <a:noFill/>
          <a:ln>
            <a:noFill/>
          </a:ln>
        </p:spPr>
      </p:pic>
      <p:sp>
        <p:nvSpPr>
          <p:cNvPr id="149" name="Google Shape;149;p11"/>
          <p:cNvSpPr txBox="1"/>
          <p:nvPr/>
        </p:nvSpPr>
        <p:spPr>
          <a:xfrm>
            <a:off x="1129061" y="2782669"/>
            <a:ext cx="230537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highlight>
                  <a:srgbClr val="008000"/>
                </a:highlight>
                <a:latin typeface="Arial"/>
                <a:ea typeface="Arial"/>
                <a:cs typeface="Arial"/>
                <a:sym typeface="Arial"/>
              </a:rPr>
              <a:t>Starts: [4510 29359]</a:t>
            </a:r>
            <a:endParaRPr/>
          </a:p>
          <a:p>
            <a:pPr indent="0" lvl="0" marL="0" marR="0" rtl="0" algn="l">
              <a:spcBef>
                <a:spcPts val="0"/>
              </a:spcBef>
              <a:spcAft>
                <a:spcPts val="0"/>
              </a:spcAft>
              <a:buNone/>
            </a:pPr>
            <a:r>
              <a:rPr lang="en-US" sz="1800">
                <a:solidFill>
                  <a:schemeClr val="dk1"/>
                </a:solidFill>
                <a:highlight>
                  <a:srgbClr val="008000"/>
                </a:highlight>
                <a:latin typeface="Arial"/>
                <a:ea typeface="Arial"/>
                <a:cs typeface="Arial"/>
                <a:sym typeface="Arial"/>
              </a:rPr>
              <a:t>Stops: [5468 29604]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lang="en-US">
                <a:solidFill>
                  <a:srgbClr val="FF0000"/>
                </a:solidFill>
              </a:rPr>
              <a:t>CpG Identification Questions</a:t>
            </a:r>
            <a:br>
              <a:rPr lang="en-US">
                <a:solidFill>
                  <a:srgbClr val="FF0000"/>
                </a:solidFill>
              </a:rPr>
            </a:br>
            <a:r>
              <a:rPr lang="en-US">
                <a:solidFill>
                  <a:srgbClr val="FF0000"/>
                </a:solidFill>
              </a:rPr>
              <a:t>Markov Chains &amp; Markov Models</a:t>
            </a:r>
            <a:endParaRPr>
              <a:solidFill>
                <a:srgbClr val="FF0000"/>
              </a:solidFill>
            </a:endParaRPr>
          </a:p>
        </p:txBody>
      </p:sp>
      <p:sp>
        <p:nvSpPr>
          <p:cNvPr id="155" name="Google Shape;15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highlight>
                  <a:srgbClr val="008000"/>
                </a:highlight>
              </a:rPr>
              <a:t>1</a:t>
            </a:r>
            <a:r>
              <a:rPr lang="en-US" sz="3600">
                <a:highlight>
                  <a:srgbClr val="008000"/>
                </a:highlight>
              </a:rPr>
              <a:t>. Given a (short) segment of genomic sequence.</a:t>
            </a:r>
            <a:endParaRPr/>
          </a:p>
          <a:p>
            <a:pPr indent="-228600" lvl="0" marL="228600" rtl="0" algn="l">
              <a:lnSpc>
                <a:spcPct val="90000"/>
              </a:lnSpc>
              <a:spcBef>
                <a:spcPts val="1000"/>
              </a:spcBef>
              <a:spcAft>
                <a:spcPts val="0"/>
              </a:spcAft>
              <a:buClr>
                <a:schemeClr val="dk1"/>
              </a:buClr>
              <a:buSzPts val="3600"/>
              <a:buChar char="•"/>
            </a:pPr>
            <a:r>
              <a:rPr lang="en-US" sz="3600"/>
              <a:t>How to decide whether this segment is from a CpG-island or not?  -</a:t>
            </a:r>
            <a:endParaRPr/>
          </a:p>
          <a:p>
            <a:pPr indent="0" lvl="0" marL="228600" rtl="0" algn="l">
              <a:lnSpc>
                <a:spcPct val="90000"/>
              </a:lnSpc>
              <a:spcBef>
                <a:spcPts val="1000"/>
              </a:spcBef>
              <a:spcAft>
                <a:spcPts val="0"/>
              </a:spcAft>
              <a:buClr>
                <a:schemeClr val="dk1"/>
              </a:buClr>
              <a:buSzPts val="3600"/>
              <a:buNone/>
            </a:pPr>
            <a:r>
              <a:t/>
            </a:r>
            <a:endParaRPr sz="3600"/>
          </a:p>
          <a:p>
            <a:pPr indent="0" lvl="0" marL="0" rtl="0" algn="l">
              <a:lnSpc>
                <a:spcPct val="90000"/>
              </a:lnSpc>
              <a:spcBef>
                <a:spcPts val="1000"/>
              </a:spcBef>
              <a:spcAft>
                <a:spcPts val="0"/>
              </a:spcAft>
              <a:buClr>
                <a:schemeClr val="dk1"/>
              </a:buClr>
              <a:buSzPts val="3600"/>
              <a:buNone/>
            </a:pPr>
            <a:r>
              <a:rPr lang="en-US" sz="3600">
                <a:highlight>
                  <a:srgbClr val="008000"/>
                </a:highlight>
              </a:rPr>
              <a:t>2. Give a (long) segment of genomic sequence.</a:t>
            </a:r>
            <a:endParaRPr/>
          </a:p>
          <a:p>
            <a:pPr indent="-228600" lvl="0" marL="228600" rtl="0" algn="l">
              <a:lnSpc>
                <a:spcPct val="90000"/>
              </a:lnSpc>
              <a:spcBef>
                <a:spcPts val="1000"/>
              </a:spcBef>
              <a:spcAft>
                <a:spcPts val="0"/>
              </a:spcAft>
              <a:buClr>
                <a:schemeClr val="dk1"/>
              </a:buClr>
              <a:buSzPts val="3600"/>
              <a:buChar char="•"/>
            </a:pPr>
            <a:r>
              <a:rPr lang="en-US" sz="3600"/>
              <a:t>How to find all CpG-islands contained in it?</a:t>
            </a:r>
            <a:endParaRPr sz="3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Markov Chains</a:t>
            </a:r>
            <a:endParaRPr b="1">
              <a:solidFill>
                <a:srgbClr val="FF0000"/>
              </a:solidFill>
            </a:endParaRPr>
          </a:p>
        </p:txBody>
      </p:sp>
      <p:sp>
        <p:nvSpPr>
          <p:cNvPr id="161" name="Google Shape;16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probabilistic model for the CGI is needed.</a:t>
            </a:r>
            <a:endParaRPr/>
          </a:p>
          <a:p>
            <a:pPr indent="-228600" lvl="0" marL="228600" rtl="0" algn="l">
              <a:lnSpc>
                <a:spcPct val="90000"/>
              </a:lnSpc>
              <a:spcBef>
                <a:spcPts val="1000"/>
              </a:spcBef>
              <a:spcAft>
                <a:spcPts val="0"/>
              </a:spcAft>
              <a:buClr>
                <a:schemeClr val="dk1"/>
              </a:buClr>
              <a:buSzPts val="2800"/>
              <a:buChar char="•"/>
            </a:pPr>
            <a:r>
              <a:rPr lang="en-US"/>
              <a:t>A model in which the probability of one symbol is dependent on the predecessor need to be developed.</a:t>
            </a:r>
            <a:endParaRPr/>
          </a:p>
          <a:p>
            <a:pPr indent="-228600" lvl="0" marL="228600" rtl="0" algn="l">
              <a:lnSpc>
                <a:spcPct val="90000"/>
              </a:lnSpc>
              <a:spcBef>
                <a:spcPts val="1000"/>
              </a:spcBef>
              <a:spcAft>
                <a:spcPts val="0"/>
              </a:spcAft>
              <a:buClr>
                <a:schemeClr val="dk1"/>
              </a:buClr>
              <a:buSzPts val="2800"/>
              <a:buChar char="•"/>
            </a:pPr>
            <a:r>
              <a:rPr lang="en-US"/>
              <a:t>This dependency can be captured by the concept of a Markov Chain.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type="title"/>
          </p:nvPr>
        </p:nvSpPr>
        <p:spPr>
          <a:xfrm>
            <a:off x="838200" y="91856"/>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i="0" lang="en-US" sz="4400" u="none" cap="none" strike="noStrike">
                <a:solidFill>
                  <a:srgbClr val="FF0000"/>
                </a:solidFill>
                <a:latin typeface="Play"/>
                <a:ea typeface="Play"/>
                <a:cs typeface="Play"/>
                <a:sym typeface="Play"/>
              </a:rPr>
              <a:t>Markov Chains</a:t>
            </a:r>
            <a:endParaRPr/>
          </a:p>
        </p:txBody>
      </p:sp>
      <p:pic>
        <p:nvPicPr>
          <p:cNvPr id="167" name="Google Shape;167;p14"/>
          <p:cNvPicPr preferRelativeResize="0"/>
          <p:nvPr>
            <p:ph idx="1" type="body"/>
          </p:nvPr>
        </p:nvPicPr>
        <p:blipFill rotWithShape="1">
          <a:blip r:embed="rId3">
            <a:alphaModFix/>
          </a:blip>
          <a:srcRect b="0" l="0" r="0" t="0"/>
          <a:stretch/>
        </p:blipFill>
        <p:spPr>
          <a:xfrm>
            <a:off x="1470344" y="1040524"/>
            <a:ext cx="9659678" cy="51679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838200" y="-86819"/>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Markov Model for Genomic Sequences</a:t>
            </a:r>
            <a:endParaRPr b="1">
              <a:solidFill>
                <a:srgbClr val="FF0000"/>
              </a:solidFill>
            </a:endParaRPr>
          </a:p>
        </p:txBody>
      </p:sp>
      <p:pic>
        <p:nvPicPr>
          <p:cNvPr id="173" name="Google Shape;173;p15"/>
          <p:cNvPicPr preferRelativeResize="0"/>
          <p:nvPr>
            <p:ph idx="1" type="body"/>
          </p:nvPr>
        </p:nvPicPr>
        <p:blipFill rotWithShape="1">
          <a:blip r:embed="rId3">
            <a:alphaModFix/>
          </a:blip>
          <a:srcRect b="0" l="0" r="0" t="0"/>
          <a:stretch/>
        </p:blipFill>
        <p:spPr>
          <a:xfrm>
            <a:off x="2304442" y="987973"/>
            <a:ext cx="8284729" cy="518899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Markov Chain Definition</a:t>
            </a:r>
            <a:endParaRPr/>
          </a:p>
        </p:txBody>
      </p:sp>
      <p:pic>
        <p:nvPicPr>
          <p:cNvPr id="179" name="Google Shape;179;p16"/>
          <p:cNvPicPr preferRelativeResize="0"/>
          <p:nvPr>
            <p:ph idx="1" type="body"/>
          </p:nvPr>
        </p:nvPicPr>
        <p:blipFill rotWithShape="1">
          <a:blip r:embed="rId3">
            <a:alphaModFix/>
          </a:blip>
          <a:srcRect b="0" l="0" r="0" t="0"/>
          <a:stretch/>
        </p:blipFill>
        <p:spPr>
          <a:xfrm>
            <a:off x="-211028" y="2207172"/>
            <a:ext cx="13109849" cy="325870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Terminology</a:t>
            </a:r>
            <a:endParaRPr b="1">
              <a:solidFill>
                <a:srgbClr val="FF0000"/>
              </a:solidFill>
            </a:endParaRPr>
          </a:p>
        </p:txBody>
      </p:sp>
      <p:pic>
        <p:nvPicPr>
          <p:cNvPr id="185" name="Google Shape;185;p17"/>
          <p:cNvPicPr preferRelativeResize="0"/>
          <p:nvPr>
            <p:ph idx="1" type="body"/>
          </p:nvPr>
        </p:nvPicPr>
        <p:blipFill rotWithShape="1">
          <a:blip r:embed="rId3">
            <a:alphaModFix/>
          </a:blip>
          <a:srcRect b="0" l="0" r="0" t="0"/>
          <a:stretch/>
        </p:blipFill>
        <p:spPr>
          <a:xfrm>
            <a:off x="1744717" y="964891"/>
            <a:ext cx="8994501" cy="516078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i="0" lang="en-US" sz="4400" u="none" cap="none" strike="noStrike">
                <a:solidFill>
                  <a:srgbClr val="FF0000"/>
                </a:solidFill>
                <a:latin typeface="Play"/>
                <a:ea typeface="Play"/>
                <a:cs typeface="Play"/>
                <a:sym typeface="Play"/>
              </a:rPr>
              <a:t>Markov Chain Probability</a:t>
            </a:r>
            <a:endParaRPr/>
          </a:p>
        </p:txBody>
      </p:sp>
      <p:pic>
        <p:nvPicPr>
          <p:cNvPr id="191" name="Google Shape;191;p18"/>
          <p:cNvPicPr preferRelativeResize="0"/>
          <p:nvPr>
            <p:ph idx="1" type="body"/>
          </p:nvPr>
        </p:nvPicPr>
        <p:blipFill rotWithShape="1">
          <a:blip r:embed="rId3">
            <a:alphaModFix/>
          </a:blip>
          <a:srcRect b="0" l="0" r="0" t="0"/>
          <a:stretch/>
        </p:blipFill>
        <p:spPr>
          <a:xfrm>
            <a:off x="2208634" y="1889481"/>
            <a:ext cx="6724503" cy="870799"/>
          </a:xfrm>
          <a:prstGeom prst="rect">
            <a:avLst/>
          </a:prstGeom>
          <a:noFill/>
          <a:ln>
            <a:noFill/>
          </a:ln>
        </p:spPr>
      </p:pic>
      <p:pic>
        <p:nvPicPr>
          <p:cNvPr id="192" name="Google Shape;192;p18"/>
          <p:cNvPicPr preferRelativeResize="0"/>
          <p:nvPr/>
        </p:nvPicPr>
        <p:blipFill rotWithShape="1">
          <a:blip r:embed="rId4">
            <a:alphaModFix/>
          </a:blip>
          <a:srcRect b="0" l="0" r="0" t="0"/>
          <a:stretch/>
        </p:blipFill>
        <p:spPr>
          <a:xfrm>
            <a:off x="-144591" y="3053666"/>
            <a:ext cx="12336591" cy="32840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i="0" lang="en-US" sz="4400" u="none" cap="none" strike="noStrike">
                <a:solidFill>
                  <a:srgbClr val="FF0000"/>
                </a:solidFill>
                <a:latin typeface="Play"/>
                <a:ea typeface="Play"/>
                <a:cs typeface="Play"/>
                <a:sym typeface="Play"/>
              </a:rPr>
              <a:t>Markov Chain Probability</a:t>
            </a:r>
            <a:endParaRPr/>
          </a:p>
        </p:txBody>
      </p:sp>
      <p:pic>
        <p:nvPicPr>
          <p:cNvPr id="198" name="Google Shape;198;p19"/>
          <p:cNvPicPr preferRelativeResize="0"/>
          <p:nvPr>
            <p:ph idx="1" type="body"/>
          </p:nvPr>
        </p:nvPicPr>
        <p:blipFill rotWithShape="1">
          <a:blip r:embed="rId3">
            <a:alphaModFix/>
          </a:blip>
          <a:srcRect b="0" l="0" r="0" t="0"/>
          <a:stretch/>
        </p:blipFill>
        <p:spPr>
          <a:xfrm>
            <a:off x="194393" y="1481958"/>
            <a:ext cx="11803214" cy="431660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1131335" y="-13276"/>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Modeling the begin and end states</a:t>
            </a:r>
            <a:endParaRPr b="1">
              <a:solidFill>
                <a:srgbClr val="FF0000"/>
              </a:solidFill>
            </a:endParaRPr>
          </a:p>
        </p:txBody>
      </p:sp>
      <p:pic>
        <p:nvPicPr>
          <p:cNvPr id="204" name="Google Shape;204;p20"/>
          <p:cNvPicPr preferRelativeResize="0"/>
          <p:nvPr>
            <p:ph idx="1" type="body"/>
          </p:nvPr>
        </p:nvPicPr>
        <p:blipFill rotWithShape="1">
          <a:blip r:embed="rId3">
            <a:alphaModFix/>
          </a:blip>
          <a:srcRect b="0" l="0" r="0" t="0"/>
          <a:stretch/>
        </p:blipFill>
        <p:spPr>
          <a:xfrm>
            <a:off x="1131335" y="1124608"/>
            <a:ext cx="10535430" cy="511541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1"/>
          <p:cNvSpPr txBox="1"/>
          <p:nvPr>
            <p:ph type="title"/>
          </p:nvPr>
        </p:nvSpPr>
        <p:spPr>
          <a:xfrm>
            <a:off x="1132490" y="-22498"/>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Markov Chain for CGI</a:t>
            </a:r>
            <a:endParaRPr b="1">
              <a:solidFill>
                <a:srgbClr val="FF0000"/>
              </a:solidFill>
            </a:endParaRPr>
          </a:p>
        </p:txBody>
      </p:sp>
      <p:pic>
        <p:nvPicPr>
          <p:cNvPr id="210" name="Google Shape;210;p21"/>
          <p:cNvPicPr preferRelativeResize="0"/>
          <p:nvPr>
            <p:ph idx="1" type="body"/>
          </p:nvPr>
        </p:nvPicPr>
        <p:blipFill rotWithShape="1">
          <a:blip r:embed="rId3">
            <a:alphaModFix/>
          </a:blip>
          <a:srcRect b="0" l="0" r="0" t="0"/>
          <a:stretch/>
        </p:blipFill>
        <p:spPr>
          <a:xfrm>
            <a:off x="2610152" y="861848"/>
            <a:ext cx="7135795" cy="534664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2"/>
          <p:cNvSpPr txBox="1"/>
          <p:nvPr>
            <p:ph type="title"/>
          </p:nvPr>
        </p:nvSpPr>
        <p:spPr>
          <a:xfrm>
            <a:off x="764627" y="81347"/>
            <a:ext cx="10515600" cy="50723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FF0000"/>
              </a:buClr>
              <a:buSzPct val="100000"/>
              <a:buFont typeface="Play"/>
              <a:buNone/>
            </a:pPr>
            <a:r>
              <a:rPr b="1" lang="en-US">
                <a:solidFill>
                  <a:srgbClr val="FF0000"/>
                </a:solidFill>
              </a:rPr>
              <a:t>Determination of Transition Matrix</a:t>
            </a:r>
            <a:endParaRPr b="1">
              <a:solidFill>
                <a:srgbClr val="FF0000"/>
              </a:solidFill>
            </a:endParaRPr>
          </a:p>
        </p:txBody>
      </p:sp>
      <p:pic>
        <p:nvPicPr>
          <p:cNvPr id="216" name="Google Shape;216;p22"/>
          <p:cNvPicPr preferRelativeResize="0"/>
          <p:nvPr>
            <p:ph idx="1" type="body"/>
          </p:nvPr>
        </p:nvPicPr>
        <p:blipFill rotWithShape="1">
          <a:blip r:embed="rId3">
            <a:alphaModFix/>
          </a:blip>
          <a:srcRect b="0" l="0" r="0" t="0"/>
          <a:stretch/>
        </p:blipFill>
        <p:spPr>
          <a:xfrm>
            <a:off x="985345" y="740736"/>
            <a:ext cx="10515600" cy="1714990"/>
          </a:xfrm>
          <a:prstGeom prst="rect">
            <a:avLst/>
          </a:prstGeom>
          <a:noFill/>
          <a:ln>
            <a:noFill/>
          </a:ln>
        </p:spPr>
      </p:pic>
      <p:pic>
        <p:nvPicPr>
          <p:cNvPr id="217" name="Google Shape;217;p22"/>
          <p:cNvPicPr preferRelativeResize="0"/>
          <p:nvPr/>
        </p:nvPicPr>
        <p:blipFill rotWithShape="1">
          <a:blip r:embed="rId4">
            <a:alphaModFix/>
          </a:blip>
          <a:srcRect b="0" l="0" r="0" t="0"/>
          <a:stretch/>
        </p:blipFill>
        <p:spPr>
          <a:xfrm>
            <a:off x="2147887" y="2455726"/>
            <a:ext cx="7896225" cy="409575"/>
          </a:xfrm>
          <a:prstGeom prst="rect">
            <a:avLst/>
          </a:prstGeom>
          <a:noFill/>
          <a:ln>
            <a:noFill/>
          </a:ln>
        </p:spPr>
      </p:pic>
      <p:pic>
        <p:nvPicPr>
          <p:cNvPr id="218" name="Google Shape;218;p22"/>
          <p:cNvPicPr preferRelativeResize="0"/>
          <p:nvPr/>
        </p:nvPicPr>
        <p:blipFill rotWithShape="1">
          <a:blip r:embed="rId5">
            <a:alphaModFix/>
          </a:blip>
          <a:srcRect b="0" l="0" r="0" t="0"/>
          <a:stretch/>
        </p:blipFill>
        <p:spPr>
          <a:xfrm>
            <a:off x="2247900" y="2804728"/>
            <a:ext cx="8305800" cy="3971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txBox="1"/>
          <p:nvPr>
            <p:ph type="title"/>
          </p:nvPr>
        </p:nvSpPr>
        <p:spPr>
          <a:xfrm>
            <a:off x="1006366" y="-181412"/>
            <a:ext cx="10515600" cy="112734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Using Markov Chains For Discrimination</a:t>
            </a:r>
            <a:endParaRPr b="1">
              <a:solidFill>
                <a:srgbClr val="FF0000"/>
              </a:solidFill>
            </a:endParaRPr>
          </a:p>
        </p:txBody>
      </p:sp>
      <p:pic>
        <p:nvPicPr>
          <p:cNvPr id="224" name="Google Shape;224;p23"/>
          <p:cNvPicPr preferRelativeResize="0"/>
          <p:nvPr>
            <p:ph idx="1" type="body"/>
          </p:nvPr>
        </p:nvPicPr>
        <p:blipFill rotWithShape="1">
          <a:blip r:embed="rId3">
            <a:alphaModFix/>
          </a:blip>
          <a:srcRect b="0" l="0" r="0" t="0"/>
          <a:stretch/>
        </p:blipFill>
        <p:spPr>
          <a:xfrm>
            <a:off x="1006375" y="683175"/>
            <a:ext cx="10260600" cy="2949600"/>
          </a:xfrm>
          <a:prstGeom prst="rect">
            <a:avLst/>
          </a:prstGeom>
          <a:noFill/>
          <a:ln>
            <a:noFill/>
          </a:ln>
        </p:spPr>
      </p:pic>
      <p:pic>
        <p:nvPicPr>
          <p:cNvPr id="225" name="Google Shape;225;p23"/>
          <p:cNvPicPr preferRelativeResize="0"/>
          <p:nvPr/>
        </p:nvPicPr>
        <p:blipFill rotWithShape="1">
          <a:blip r:embed="rId4">
            <a:alphaModFix/>
          </a:blip>
          <a:srcRect b="0" l="0" r="0" t="0"/>
          <a:stretch/>
        </p:blipFill>
        <p:spPr>
          <a:xfrm>
            <a:off x="3218475" y="5262575"/>
            <a:ext cx="6091399" cy="1368425"/>
          </a:xfrm>
          <a:prstGeom prst="rect">
            <a:avLst/>
          </a:prstGeom>
          <a:noFill/>
          <a:ln>
            <a:noFill/>
          </a:ln>
        </p:spPr>
      </p:pic>
      <p:pic>
        <p:nvPicPr>
          <p:cNvPr id="226" name="Google Shape;226;p23"/>
          <p:cNvPicPr preferRelativeResize="0"/>
          <p:nvPr/>
        </p:nvPicPr>
        <p:blipFill rotWithShape="1">
          <a:blip r:embed="rId5">
            <a:alphaModFix/>
          </a:blip>
          <a:srcRect b="0" l="0" r="0" t="0"/>
          <a:stretch/>
        </p:blipFill>
        <p:spPr>
          <a:xfrm>
            <a:off x="821725" y="3971375"/>
            <a:ext cx="10629900" cy="952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232" name="Google Shape;232;p24"/>
          <p:cNvPicPr preferRelativeResize="0"/>
          <p:nvPr>
            <p:ph idx="1" type="body"/>
          </p:nvPr>
        </p:nvPicPr>
        <p:blipFill rotWithShape="1">
          <a:blip r:embed="rId3">
            <a:alphaModFix/>
          </a:blip>
          <a:srcRect b="0" l="0" r="0" t="0"/>
          <a:stretch/>
        </p:blipFill>
        <p:spPr>
          <a:xfrm>
            <a:off x="1909128" y="155811"/>
            <a:ext cx="7934400" cy="2333700"/>
          </a:xfrm>
          <a:prstGeom prst="rect">
            <a:avLst/>
          </a:prstGeom>
          <a:noFill/>
          <a:ln>
            <a:noFill/>
          </a:ln>
        </p:spPr>
      </p:pic>
      <p:pic>
        <p:nvPicPr>
          <p:cNvPr id="233" name="Google Shape;233;p24"/>
          <p:cNvPicPr preferRelativeResize="0"/>
          <p:nvPr/>
        </p:nvPicPr>
        <p:blipFill rotWithShape="1">
          <a:blip r:embed="rId4">
            <a:alphaModFix/>
          </a:blip>
          <a:srcRect b="0" l="0" r="0" t="0"/>
          <a:stretch/>
        </p:blipFill>
        <p:spPr>
          <a:xfrm>
            <a:off x="5833240" y="2717315"/>
            <a:ext cx="5196871" cy="2156314"/>
          </a:xfrm>
          <a:prstGeom prst="rect">
            <a:avLst/>
          </a:prstGeom>
          <a:noFill/>
          <a:ln>
            <a:noFill/>
          </a:ln>
        </p:spPr>
      </p:pic>
      <p:pic>
        <p:nvPicPr>
          <p:cNvPr id="234" name="Google Shape;234;p24"/>
          <p:cNvPicPr preferRelativeResize="0"/>
          <p:nvPr/>
        </p:nvPicPr>
        <p:blipFill rotWithShape="1">
          <a:blip r:embed="rId5">
            <a:alphaModFix/>
          </a:blip>
          <a:srcRect b="0" l="0" r="0" t="0"/>
          <a:stretch/>
        </p:blipFill>
        <p:spPr>
          <a:xfrm>
            <a:off x="0" y="5286016"/>
            <a:ext cx="12192000" cy="1092473"/>
          </a:xfrm>
          <a:prstGeom prst="rect">
            <a:avLst/>
          </a:prstGeom>
          <a:noFill/>
          <a:ln>
            <a:noFill/>
          </a:ln>
        </p:spPr>
      </p:pic>
      <p:pic>
        <p:nvPicPr>
          <p:cNvPr id="235" name="Google Shape;235;p24"/>
          <p:cNvPicPr preferRelativeResize="0"/>
          <p:nvPr/>
        </p:nvPicPr>
        <p:blipFill rotWithShape="1">
          <a:blip r:embed="rId6">
            <a:alphaModFix/>
          </a:blip>
          <a:srcRect b="0" l="0" r="0" t="0"/>
          <a:stretch/>
        </p:blipFill>
        <p:spPr>
          <a:xfrm>
            <a:off x="0" y="2927522"/>
            <a:ext cx="6090432" cy="192040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Hidden Markov Model</a:t>
            </a:r>
            <a:endParaRPr b="1">
              <a:solidFill>
                <a:srgbClr val="FF0000"/>
              </a:solidFill>
            </a:endParaRPr>
          </a:p>
        </p:txBody>
      </p:sp>
      <p:pic>
        <p:nvPicPr>
          <p:cNvPr id="241" name="Google Shape;241;p25"/>
          <p:cNvPicPr preferRelativeResize="0"/>
          <p:nvPr>
            <p:ph idx="1" type="body"/>
          </p:nvPr>
        </p:nvPicPr>
        <p:blipFill rotWithShape="1">
          <a:blip r:embed="rId3">
            <a:alphaModFix/>
          </a:blip>
          <a:srcRect b="0" l="0" r="0" t="0"/>
          <a:stretch/>
        </p:blipFill>
        <p:spPr>
          <a:xfrm>
            <a:off x="1752571" y="1406936"/>
            <a:ext cx="8686857" cy="925404"/>
          </a:xfrm>
          <a:prstGeom prst="rect">
            <a:avLst/>
          </a:prstGeom>
          <a:noFill/>
          <a:ln>
            <a:noFill/>
          </a:ln>
        </p:spPr>
      </p:pic>
      <p:pic>
        <p:nvPicPr>
          <p:cNvPr id="242" name="Google Shape;242;p25"/>
          <p:cNvPicPr preferRelativeResize="0"/>
          <p:nvPr/>
        </p:nvPicPr>
        <p:blipFill rotWithShape="1">
          <a:blip r:embed="rId4">
            <a:alphaModFix/>
          </a:blip>
          <a:srcRect b="0" l="0" r="0" t="0"/>
          <a:stretch/>
        </p:blipFill>
        <p:spPr>
          <a:xfrm>
            <a:off x="304800" y="2732029"/>
            <a:ext cx="11887200" cy="288082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Hidden Markov Model</a:t>
            </a:r>
            <a:endParaRPr/>
          </a:p>
        </p:txBody>
      </p:sp>
      <p:pic>
        <p:nvPicPr>
          <p:cNvPr id="248" name="Google Shape;248;p26"/>
          <p:cNvPicPr preferRelativeResize="0"/>
          <p:nvPr>
            <p:ph idx="1" type="body"/>
          </p:nvPr>
        </p:nvPicPr>
        <p:blipFill rotWithShape="1">
          <a:blip r:embed="rId3">
            <a:alphaModFix/>
          </a:blip>
          <a:srcRect b="0" l="0" r="0" t="0"/>
          <a:stretch/>
        </p:blipFill>
        <p:spPr>
          <a:xfrm>
            <a:off x="2687440" y="1690688"/>
            <a:ext cx="7296314" cy="2523146"/>
          </a:xfrm>
          <a:prstGeom prst="rect">
            <a:avLst/>
          </a:prstGeom>
          <a:noFill/>
          <a:ln>
            <a:noFill/>
          </a:ln>
        </p:spPr>
      </p:pic>
      <p:pic>
        <p:nvPicPr>
          <p:cNvPr id="249" name="Google Shape;249;p26"/>
          <p:cNvPicPr preferRelativeResize="0"/>
          <p:nvPr/>
        </p:nvPicPr>
        <p:blipFill rotWithShape="1">
          <a:blip r:embed="rId4">
            <a:alphaModFix/>
          </a:blip>
          <a:srcRect b="0" l="0" r="0" t="0"/>
          <a:stretch/>
        </p:blipFill>
        <p:spPr>
          <a:xfrm>
            <a:off x="1717279" y="4611290"/>
            <a:ext cx="9236636" cy="132556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7"/>
          <p:cNvSpPr txBox="1"/>
          <p:nvPr>
            <p:ph type="title"/>
          </p:nvPr>
        </p:nvSpPr>
        <p:spPr>
          <a:xfrm>
            <a:off x="838200" y="71037"/>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HMM for CpG-islands</a:t>
            </a:r>
            <a:endParaRPr b="1">
              <a:solidFill>
                <a:srgbClr val="FF0000"/>
              </a:solidFill>
            </a:endParaRPr>
          </a:p>
        </p:txBody>
      </p:sp>
      <p:pic>
        <p:nvPicPr>
          <p:cNvPr id="255" name="Google Shape;255;p27"/>
          <p:cNvPicPr preferRelativeResize="0"/>
          <p:nvPr>
            <p:ph idx="1" type="body"/>
          </p:nvPr>
        </p:nvPicPr>
        <p:blipFill rotWithShape="1">
          <a:blip r:embed="rId3">
            <a:alphaModFix/>
          </a:blip>
          <a:srcRect b="0" l="0" r="0" t="0"/>
          <a:stretch/>
        </p:blipFill>
        <p:spPr>
          <a:xfrm>
            <a:off x="1502163" y="1019503"/>
            <a:ext cx="9545025" cy="576746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8"/>
          <p:cNvSpPr txBox="1"/>
          <p:nvPr>
            <p:ph type="title"/>
          </p:nvPr>
        </p:nvSpPr>
        <p:spPr>
          <a:xfrm>
            <a:off x="838200" y="1"/>
            <a:ext cx="9609083" cy="98797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HMM Example: Fair/Loaded Die</a:t>
            </a:r>
            <a:endParaRPr b="1">
              <a:solidFill>
                <a:srgbClr val="FF0000"/>
              </a:solidFill>
            </a:endParaRPr>
          </a:p>
        </p:txBody>
      </p:sp>
      <p:pic>
        <p:nvPicPr>
          <p:cNvPr id="261" name="Google Shape;261;p28"/>
          <p:cNvPicPr preferRelativeResize="0"/>
          <p:nvPr>
            <p:ph idx="1" type="body"/>
          </p:nvPr>
        </p:nvPicPr>
        <p:blipFill rotWithShape="1">
          <a:blip r:embed="rId3">
            <a:alphaModFix/>
          </a:blip>
          <a:srcRect b="0" l="0" r="0" t="0"/>
          <a:stretch/>
        </p:blipFill>
        <p:spPr>
          <a:xfrm>
            <a:off x="977152" y="783338"/>
            <a:ext cx="10237696" cy="579219"/>
          </a:xfrm>
          <a:prstGeom prst="rect">
            <a:avLst/>
          </a:prstGeom>
          <a:noFill/>
          <a:ln>
            <a:noFill/>
          </a:ln>
        </p:spPr>
      </p:pic>
      <p:pic>
        <p:nvPicPr>
          <p:cNvPr id="262" name="Google Shape;262;p28"/>
          <p:cNvPicPr preferRelativeResize="0"/>
          <p:nvPr/>
        </p:nvPicPr>
        <p:blipFill rotWithShape="1">
          <a:blip r:embed="rId4">
            <a:alphaModFix/>
          </a:blip>
          <a:srcRect b="0" l="0" r="0" t="0"/>
          <a:stretch/>
        </p:blipFill>
        <p:spPr>
          <a:xfrm>
            <a:off x="2314656" y="1508225"/>
            <a:ext cx="7890888" cy="489580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Generation of Simulated Data</a:t>
            </a:r>
            <a:endParaRPr b="1">
              <a:solidFill>
                <a:srgbClr val="FF0000"/>
              </a:solidFill>
            </a:endParaRPr>
          </a:p>
        </p:txBody>
      </p:sp>
      <p:pic>
        <p:nvPicPr>
          <p:cNvPr id="268" name="Google Shape;268;p29"/>
          <p:cNvPicPr preferRelativeResize="0"/>
          <p:nvPr>
            <p:ph idx="1" type="body"/>
          </p:nvPr>
        </p:nvPicPr>
        <p:blipFill rotWithShape="1">
          <a:blip r:embed="rId3">
            <a:alphaModFix/>
          </a:blip>
          <a:srcRect b="0" l="0" r="0" t="0"/>
          <a:stretch/>
        </p:blipFill>
        <p:spPr>
          <a:xfrm>
            <a:off x="121158" y="1535333"/>
            <a:ext cx="6463284" cy="4351338"/>
          </a:xfrm>
          <a:prstGeom prst="rect">
            <a:avLst/>
          </a:prstGeom>
          <a:noFill/>
          <a:ln>
            <a:noFill/>
          </a:ln>
        </p:spPr>
      </p:pic>
      <p:sp>
        <p:nvSpPr>
          <p:cNvPr id="269" name="Google Shape;269;p29"/>
          <p:cNvSpPr txBox="1"/>
          <p:nvPr/>
        </p:nvSpPr>
        <p:spPr>
          <a:xfrm>
            <a:off x="6500359" y="2506953"/>
            <a:ext cx="5880828"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00B050"/>
                </a:solidFill>
                <a:latin typeface="Arial"/>
                <a:ea typeface="Arial"/>
                <a:cs typeface="Arial"/>
                <a:sym typeface="Arial"/>
              </a:rPr>
              <a:t>MATLAB Function</a:t>
            </a:r>
            <a:endParaRPr/>
          </a:p>
          <a:p>
            <a:pPr indent="0" lvl="0" marL="0" marR="0" rtl="0" algn="l">
              <a:spcBef>
                <a:spcPts val="0"/>
              </a:spcBef>
              <a:spcAft>
                <a:spcPts val="0"/>
              </a:spcAft>
              <a:buNone/>
            </a:pPr>
            <a:r>
              <a:rPr b="1" lang="en-US" sz="2000">
                <a:solidFill>
                  <a:srgbClr val="00B0F0"/>
                </a:solidFill>
                <a:latin typeface="Arial"/>
                <a:ea typeface="Arial"/>
                <a:cs typeface="Arial"/>
                <a:sym typeface="Arial"/>
              </a:rPr>
              <a:t>[seq, states] = hmmgenerate(1000,TRANS,EMIS)</a:t>
            </a:r>
            <a:endParaRPr b="1" sz="2000">
              <a:solidFill>
                <a:srgbClr val="00B0F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Questions</a:t>
            </a:r>
            <a:endParaRPr b="1">
              <a:solidFill>
                <a:srgbClr val="FF0000"/>
              </a:solidFill>
            </a:endParaRPr>
          </a:p>
        </p:txBody>
      </p:sp>
      <p:pic>
        <p:nvPicPr>
          <p:cNvPr id="275" name="Google Shape;275;p30"/>
          <p:cNvPicPr preferRelativeResize="0"/>
          <p:nvPr>
            <p:ph idx="1" type="body"/>
          </p:nvPr>
        </p:nvPicPr>
        <p:blipFill rotWithShape="1">
          <a:blip r:embed="rId3">
            <a:alphaModFix/>
          </a:blip>
          <a:srcRect b="0" l="0" r="0" t="0"/>
          <a:stretch/>
        </p:blipFill>
        <p:spPr>
          <a:xfrm>
            <a:off x="838200" y="2340166"/>
            <a:ext cx="11161637" cy="140151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1"/>
          <p:cNvSpPr txBox="1"/>
          <p:nvPr>
            <p:ph type="title"/>
          </p:nvPr>
        </p:nvSpPr>
        <p:spPr>
          <a:xfrm>
            <a:off x="838200" y="-118351"/>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Probability For Given States &amp; Symbols</a:t>
            </a:r>
            <a:endParaRPr b="1">
              <a:solidFill>
                <a:srgbClr val="FF0000"/>
              </a:solidFill>
            </a:endParaRPr>
          </a:p>
        </p:txBody>
      </p:sp>
      <p:pic>
        <p:nvPicPr>
          <p:cNvPr id="281" name="Google Shape;281;p31"/>
          <p:cNvPicPr preferRelativeResize="0"/>
          <p:nvPr>
            <p:ph idx="1" type="body"/>
          </p:nvPr>
        </p:nvPicPr>
        <p:blipFill rotWithShape="1">
          <a:blip r:embed="rId3">
            <a:alphaModFix/>
          </a:blip>
          <a:srcRect b="0" l="0" r="0" t="0"/>
          <a:stretch/>
        </p:blipFill>
        <p:spPr>
          <a:xfrm>
            <a:off x="277515" y="1207212"/>
            <a:ext cx="11636969" cy="476000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2"/>
          <p:cNvSpPr txBox="1"/>
          <p:nvPr>
            <p:ph type="title"/>
          </p:nvPr>
        </p:nvSpPr>
        <p:spPr>
          <a:xfrm>
            <a:off x="838200" y="-57241"/>
            <a:ext cx="10515600" cy="84551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The Decoding Problem</a:t>
            </a:r>
            <a:endParaRPr b="1">
              <a:solidFill>
                <a:srgbClr val="FF0000"/>
              </a:solidFill>
            </a:endParaRPr>
          </a:p>
        </p:txBody>
      </p:sp>
      <p:pic>
        <p:nvPicPr>
          <p:cNvPr id="287" name="Google Shape;287;p32"/>
          <p:cNvPicPr preferRelativeResize="0"/>
          <p:nvPr>
            <p:ph idx="1" type="body"/>
          </p:nvPr>
        </p:nvPicPr>
        <p:blipFill rotWithShape="1">
          <a:blip r:embed="rId3">
            <a:alphaModFix/>
          </a:blip>
          <a:srcRect b="0" l="0" r="0" t="0"/>
          <a:stretch/>
        </p:blipFill>
        <p:spPr>
          <a:xfrm>
            <a:off x="425832" y="1004304"/>
            <a:ext cx="11689708" cy="722048"/>
          </a:xfrm>
          <a:prstGeom prst="rect">
            <a:avLst/>
          </a:prstGeom>
          <a:noFill/>
          <a:ln>
            <a:noFill/>
          </a:ln>
        </p:spPr>
      </p:pic>
      <p:pic>
        <p:nvPicPr>
          <p:cNvPr id="288" name="Google Shape;288;p32"/>
          <p:cNvPicPr preferRelativeResize="0"/>
          <p:nvPr/>
        </p:nvPicPr>
        <p:blipFill rotWithShape="1">
          <a:blip r:embed="rId4">
            <a:alphaModFix/>
          </a:blip>
          <a:srcRect b="0" l="0" r="0" t="0"/>
          <a:stretch/>
        </p:blipFill>
        <p:spPr>
          <a:xfrm>
            <a:off x="472660" y="1726352"/>
            <a:ext cx="11719340" cy="2893364"/>
          </a:xfrm>
          <a:prstGeom prst="rect">
            <a:avLst/>
          </a:prstGeom>
          <a:noFill/>
          <a:ln>
            <a:noFill/>
          </a:ln>
        </p:spPr>
      </p:pic>
      <p:sp>
        <p:nvSpPr>
          <p:cNvPr id="289" name="Google Shape;289;p32"/>
          <p:cNvSpPr txBox="1"/>
          <p:nvPr/>
        </p:nvSpPr>
        <p:spPr>
          <a:xfrm>
            <a:off x="2060911" y="5017585"/>
            <a:ext cx="8419549"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rgbClr val="00B050"/>
                </a:solidFill>
                <a:latin typeface="Arial"/>
                <a:ea typeface="Arial"/>
                <a:cs typeface="Arial"/>
                <a:sym typeface="Arial"/>
              </a:rPr>
              <a:t>MATLAB Function</a:t>
            </a:r>
            <a:endParaRPr/>
          </a:p>
          <a:p>
            <a:pPr indent="0" lvl="0" marL="0" marR="0" rtl="0" algn="l">
              <a:spcBef>
                <a:spcPts val="0"/>
              </a:spcBef>
              <a:spcAft>
                <a:spcPts val="0"/>
              </a:spcAft>
              <a:buNone/>
            </a:pPr>
            <a:r>
              <a:rPr b="1" lang="en-US" sz="3200">
                <a:solidFill>
                  <a:srgbClr val="00B0F0"/>
                </a:solidFill>
                <a:latin typeface="Arial"/>
                <a:ea typeface="Arial"/>
                <a:cs typeface="Arial"/>
                <a:sym typeface="Arial"/>
              </a:rPr>
              <a:t>likelystates  =  hmmviterbi(seq, TRAN, EMIS)</a:t>
            </a:r>
            <a:endParaRPr b="1" sz="3200">
              <a:solidFill>
                <a:srgbClr val="00B0F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3"/>
          <p:cNvSpPr txBox="1"/>
          <p:nvPr>
            <p:ph type="title"/>
          </p:nvPr>
        </p:nvSpPr>
        <p:spPr>
          <a:xfrm>
            <a:off x="911772" y="0"/>
            <a:ext cx="10515600" cy="88560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Algorithmic Tasks For HMM</a:t>
            </a:r>
            <a:endParaRPr b="1">
              <a:solidFill>
                <a:srgbClr val="FF0000"/>
              </a:solidFill>
            </a:endParaRPr>
          </a:p>
        </p:txBody>
      </p:sp>
      <p:pic>
        <p:nvPicPr>
          <p:cNvPr id="295" name="Google Shape;295;p33"/>
          <p:cNvPicPr preferRelativeResize="0"/>
          <p:nvPr>
            <p:ph idx="1" type="body"/>
          </p:nvPr>
        </p:nvPicPr>
        <p:blipFill rotWithShape="1">
          <a:blip r:embed="rId3">
            <a:alphaModFix/>
          </a:blip>
          <a:srcRect b="0" l="0" r="0" t="0"/>
          <a:stretch/>
        </p:blipFill>
        <p:spPr>
          <a:xfrm>
            <a:off x="911772" y="885606"/>
            <a:ext cx="4133850" cy="381000"/>
          </a:xfrm>
          <a:prstGeom prst="rect">
            <a:avLst/>
          </a:prstGeom>
          <a:noFill/>
          <a:ln>
            <a:noFill/>
          </a:ln>
        </p:spPr>
      </p:pic>
      <p:pic>
        <p:nvPicPr>
          <p:cNvPr id="296" name="Google Shape;296;p33"/>
          <p:cNvPicPr preferRelativeResize="0"/>
          <p:nvPr/>
        </p:nvPicPr>
        <p:blipFill rotWithShape="1">
          <a:blip r:embed="rId4">
            <a:alphaModFix/>
          </a:blip>
          <a:srcRect b="0" l="0" r="0" t="0"/>
          <a:stretch/>
        </p:blipFill>
        <p:spPr>
          <a:xfrm>
            <a:off x="613376" y="1340233"/>
            <a:ext cx="8505825" cy="561975"/>
          </a:xfrm>
          <a:prstGeom prst="rect">
            <a:avLst/>
          </a:prstGeom>
          <a:noFill/>
          <a:ln>
            <a:noFill/>
          </a:ln>
        </p:spPr>
      </p:pic>
      <p:pic>
        <p:nvPicPr>
          <p:cNvPr id="297" name="Google Shape;297;p33"/>
          <p:cNvPicPr preferRelativeResize="0"/>
          <p:nvPr/>
        </p:nvPicPr>
        <p:blipFill rotWithShape="1">
          <a:blip r:embed="rId5">
            <a:alphaModFix/>
          </a:blip>
          <a:srcRect b="0" l="0" r="0" t="0"/>
          <a:stretch/>
        </p:blipFill>
        <p:spPr>
          <a:xfrm>
            <a:off x="1382265" y="1887139"/>
            <a:ext cx="4713735" cy="469696"/>
          </a:xfrm>
          <a:prstGeom prst="rect">
            <a:avLst/>
          </a:prstGeom>
          <a:noFill/>
          <a:ln>
            <a:noFill/>
          </a:ln>
        </p:spPr>
      </p:pic>
      <p:pic>
        <p:nvPicPr>
          <p:cNvPr id="298" name="Google Shape;298;p33"/>
          <p:cNvPicPr preferRelativeResize="0"/>
          <p:nvPr/>
        </p:nvPicPr>
        <p:blipFill rotWithShape="1">
          <a:blip r:embed="rId6">
            <a:alphaModFix/>
          </a:blip>
          <a:srcRect b="0" l="0" r="0" t="0"/>
          <a:stretch/>
        </p:blipFill>
        <p:spPr>
          <a:xfrm>
            <a:off x="1094576" y="2589416"/>
            <a:ext cx="10035879" cy="771092"/>
          </a:xfrm>
          <a:prstGeom prst="rect">
            <a:avLst/>
          </a:prstGeom>
          <a:noFill/>
          <a:ln>
            <a:noFill/>
          </a:ln>
        </p:spPr>
      </p:pic>
      <p:sp>
        <p:nvSpPr>
          <p:cNvPr id="299" name="Google Shape;299;p33"/>
          <p:cNvSpPr txBox="1"/>
          <p:nvPr/>
        </p:nvSpPr>
        <p:spPr>
          <a:xfrm>
            <a:off x="720756" y="2534409"/>
            <a:ext cx="3738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2.</a:t>
            </a:r>
            <a:endParaRPr sz="1800">
              <a:solidFill>
                <a:schemeClr val="dk1"/>
              </a:solidFill>
              <a:latin typeface="Arial"/>
              <a:ea typeface="Arial"/>
              <a:cs typeface="Arial"/>
              <a:sym typeface="Arial"/>
            </a:endParaRPr>
          </a:p>
        </p:txBody>
      </p:sp>
      <p:sp>
        <p:nvSpPr>
          <p:cNvPr id="300" name="Google Shape;300;p33"/>
          <p:cNvSpPr txBox="1"/>
          <p:nvPr/>
        </p:nvSpPr>
        <p:spPr>
          <a:xfrm>
            <a:off x="2165131" y="3448225"/>
            <a:ext cx="46117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F0"/>
                </a:solidFill>
                <a:latin typeface="Arial"/>
                <a:ea typeface="Arial"/>
                <a:cs typeface="Arial"/>
                <a:sym typeface="Arial"/>
              </a:rPr>
              <a:t>PSTATES = hmmdecode(seq, TRANS, EMIS)</a:t>
            </a:r>
            <a:endParaRPr b="1" sz="1800">
              <a:solidFill>
                <a:srgbClr val="00B0F0"/>
              </a:solidFill>
              <a:latin typeface="Arial"/>
              <a:ea typeface="Arial"/>
              <a:cs typeface="Arial"/>
              <a:sym typeface="Arial"/>
            </a:endParaRPr>
          </a:p>
        </p:txBody>
      </p:sp>
      <p:sp>
        <p:nvSpPr>
          <p:cNvPr id="301" name="Google Shape;301;p33"/>
          <p:cNvSpPr txBox="1"/>
          <p:nvPr/>
        </p:nvSpPr>
        <p:spPr>
          <a:xfrm>
            <a:off x="1094576" y="3905274"/>
            <a:ext cx="1110919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output PSTATES is an M-by-L matrix, where M is the number of states and L is the length of seq. PSTATES(I,j)</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is the conditional probability that the model is in state I when it generates the jth symbol of seq, given that</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Seq is emitted</a:t>
            </a:r>
            <a:endParaRPr sz="1800">
              <a:solidFill>
                <a:schemeClr val="dk1"/>
              </a:solidFill>
              <a:latin typeface="Arial"/>
              <a:ea typeface="Arial"/>
              <a:cs typeface="Arial"/>
              <a:sym typeface="Arial"/>
            </a:endParaRPr>
          </a:p>
        </p:txBody>
      </p:sp>
      <p:pic>
        <p:nvPicPr>
          <p:cNvPr id="302" name="Google Shape;302;p33"/>
          <p:cNvPicPr preferRelativeResize="0"/>
          <p:nvPr/>
        </p:nvPicPr>
        <p:blipFill rotWithShape="1">
          <a:blip r:embed="rId7">
            <a:alphaModFix/>
          </a:blip>
          <a:srcRect b="0" l="0" r="0" t="0"/>
          <a:stretch/>
        </p:blipFill>
        <p:spPr>
          <a:xfrm>
            <a:off x="959501" y="4921876"/>
            <a:ext cx="10368301" cy="625779"/>
          </a:xfrm>
          <a:prstGeom prst="rect">
            <a:avLst/>
          </a:prstGeom>
          <a:noFill/>
          <a:ln>
            <a:noFill/>
          </a:ln>
        </p:spPr>
      </p:pic>
      <p:sp>
        <p:nvSpPr>
          <p:cNvPr id="303" name="Google Shape;303;p33"/>
          <p:cNvSpPr txBox="1"/>
          <p:nvPr/>
        </p:nvSpPr>
        <p:spPr>
          <a:xfrm>
            <a:off x="613376" y="4911599"/>
            <a:ext cx="3434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3</a:t>
            </a:r>
            <a:endParaRPr sz="1800">
              <a:solidFill>
                <a:schemeClr val="dk1"/>
              </a:solidFill>
              <a:latin typeface="Arial"/>
              <a:ea typeface="Arial"/>
              <a:cs typeface="Arial"/>
              <a:sym typeface="Arial"/>
            </a:endParaRPr>
          </a:p>
        </p:txBody>
      </p:sp>
      <p:sp>
        <p:nvSpPr>
          <p:cNvPr id="304" name="Google Shape;304;p33"/>
          <p:cNvSpPr txBox="1"/>
          <p:nvPr/>
        </p:nvSpPr>
        <p:spPr>
          <a:xfrm>
            <a:off x="2165131" y="5780670"/>
            <a:ext cx="71114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0F0"/>
                </a:solidFill>
                <a:latin typeface="Arial"/>
                <a:ea typeface="Arial"/>
                <a:cs typeface="Arial"/>
                <a:sym typeface="Arial"/>
              </a:rPr>
              <a:t>[TRANS_EST, EMIS_EST] = hmmestimate(seq, states)</a:t>
            </a:r>
            <a:endParaRPr b="1" sz="1800">
              <a:solidFill>
                <a:srgbClr val="00B0F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310" name="Google Shape;310;p34"/>
          <p:cNvPicPr preferRelativeResize="0"/>
          <p:nvPr>
            <p:ph idx="1" type="body"/>
          </p:nvPr>
        </p:nvPicPr>
        <p:blipFill rotWithShape="1">
          <a:blip r:embed="rId3">
            <a:alphaModFix/>
          </a:blip>
          <a:srcRect b="0" l="0" r="0" t="0"/>
          <a:stretch/>
        </p:blipFill>
        <p:spPr>
          <a:xfrm>
            <a:off x="117332" y="30573"/>
            <a:ext cx="3290884" cy="1994666"/>
          </a:xfrm>
          <a:prstGeom prst="rect">
            <a:avLst/>
          </a:prstGeom>
          <a:noFill/>
          <a:ln>
            <a:noFill/>
          </a:ln>
        </p:spPr>
      </p:pic>
      <p:pic>
        <p:nvPicPr>
          <p:cNvPr id="311" name="Google Shape;311;p34"/>
          <p:cNvPicPr preferRelativeResize="0"/>
          <p:nvPr/>
        </p:nvPicPr>
        <p:blipFill rotWithShape="1">
          <a:blip r:embed="rId4">
            <a:alphaModFix/>
          </a:blip>
          <a:srcRect b="0" l="0" r="0" t="0"/>
          <a:stretch/>
        </p:blipFill>
        <p:spPr>
          <a:xfrm>
            <a:off x="3008999" y="1606607"/>
            <a:ext cx="9183001" cy="458794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5"/>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MATLAB Code for the Fair/Loaded Die</a:t>
            </a:r>
            <a:endParaRPr b="1">
              <a:solidFill>
                <a:srgbClr val="FF0000"/>
              </a:solidFill>
            </a:endParaRPr>
          </a:p>
        </p:txBody>
      </p:sp>
      <p:pic>
        <p:nvPicPr>
          <p:cNvPr id="317" name="Google Shape;317;p35"/>
          <p:cNvPicPr preferRelativeResize="0"/>
          <p:nvPr>
            <p:ph idx="1" type="body"/>
          </p:nvPr>
        </p:nvPicPr>
        <p:blipFill rotWithShape="1">
          <a:blip r:embed="rId3">
            <a:alphaModFix/>
          </a:blip>
          <a:srcRect b="0" l="0" r="0" t="0"/>
          <a:stretch/>
        </p:blipFill>
        <p:spPr>
          <a:xfrm>
            <a:off x="555332" y="1240220"/>
            <a:ext cx="11483910" cy="497878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6"/>
          <p:cNvSpPr txBox="1"/>
          <p:nvPr>
            <p:ph type="title"/>
          </p:nvPr>
        </p:nvSpPr>
        <p:spPr>
          <a:xfrm>
            <a:off x="838200" y="-212944"/>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Another HMM Example</a:t>
            </a:r>
            <a:endParaRPr b="1">
              <a:solidFill>
                <a:srgbClr val="FF0000"/>
              </a:solidFill>
            </a:endParaRPr>
          </a:p>
        </p:txBody>
      </p:sp>
      <p:pic>
        <p:nvPicPr>
          <p:cNvPr id="323" name="Google Shape;323;p36"/>
          <p:cNvPicPr preferRelativeResize="0"/>
          <p:nvPr>
            <p:ph idx="1" type="body"/>
          </p:nvPr>
        </p:nvPicPr>
        <p:blipFill rotWithShape="1">
          <a:blip r:embed="rId3">
            <a:alphaModFix/>
          </a:blip>
          <a:srcRect b="0" l="0" r="0" t="0"/>
          <a:stretch/>
        </p:blipFill>
        <p:spPr>
          <a:xfrm>
            <a:off x="1186851" y="986496"/>
            <a:ext cx="10375521" cy="506434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1058261" y="8972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State Diagram for the Model</a:t>
            </a:r>
            <a:endParaRPr b="1">
              <a:solidFill>
                <a:srgbClr val="FF0000"/>
              </a:solidFill>
            </a:endParaRPr>
          </a:p>
        </p:txBody>
      </p:sp>
      <p:pic>
        <p:nvPicPr>
          <p:cNvPr id="329" name="Google Shape;329;p37"/>
          <p:cNvPicPr preferRelativeResize="0"/>
          <p:nvPr>
            <p:ph idx="1" type="body"/>
          </p:nvPr>
        </p:nvPicPr>
        <p:blipFill rotWithShape="1">
          <a:blip r:embed="rId3">
            <a:alphaModFix/>
          </a:blip>
          <a:srcRect b="0" l="0" r="0" t="0"/>
          <a:stretch/>
        </p:blipFill>
        <p:spPr>
          <a:xfrm>
            <a:off x="319581" y="1981173"/>
            <a:ext cx="6381750" cy="4124325"/>
          </a:xfrm>
          <a:prstGeom prst="rect">
            <a:avLst/>
          </a:prstGeom>
          <a:noFill/>
          <a:ln>
            <a:noFill/>
          </a:ln>
        </p:spPr>
      </p:pic>
      <p:pic>
        <p:nvPicPr>
          <p:cNvPr id="330" name="Google Shape;330;p37"/>
          <p:cNvPicPr preferRelativeResize="0"/>
          <p:nvPr/>
        </p:nvPicPr>
        <p:blipFill rotWithShape="1">
          <a:blip r:embed="rId4">
            <a:alphaModFix/>
          </a:blip>
          <a:srcRect b="0" l="0" r="0" t="0"/>
          <a:stretch/>
        </p:blipFill>
        <p:spPr>
          <a:xfrm>
            <a:off x="8052114" y="1551032"/>
            <a:ext cx="3106260" cy="1877968"/>
          </a:xfrm>
          <a:prstGeom prst="rect">
            <a:avLst/>
          </a:prstGeom>
          <a:noFill/>
          <a:ln>
            <a:noFill/>
          </a:ln>
        </p:spPr>
      </p:pic>
      <p:pic>
        <p:nvPicPr>
          <p:cNvPr id="331" name="Google Shape;331;p37"/>
          <p:cNvPicPr preferRelativeResize="0"/>
          <p:nvPr/>
        </p:nvPicPr>
        <p:blipFill rotWithShape="1">
          <a:blip r:embed="rId5">
            <a:alphaModFix/>
          </a:blip>
          <a:srcRect b="0" l="0" r="0" t="0"/>
          <a:stretch/>
        </p:blipFill>
        <p:spPr>
          <a:xfrm>
            <a:off x="7694762" y="3920577"/>
            <a:ext cx="3879099" cy="159461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HMM Questions</a:t>
            </a:r>
            <a:endParaRPr b="1">
              <a:solidFill>
                <a:srgbClr val="FF0000"/>
              </a:solidFill>
            </a:endParaRPr>
          </a:p>
        </p:txBody>
      </p:sp>
      <p:pic>
        <p:nvPicPr>
          <p:cNvPr id="337" name="Google Shape;337;p38"/>
          <p:cNvPicPr preferRelativeResize="0"/>
          <p:nvPr>
            <p:ph idx="1" type="body"/>
          </p:nvPr>
        </p:nvPicPr>
        <p:blipFill rotWithShape="1">
          <a:blip r:embed="rId3">
            <a:alphaModFix/>
          </a:blip>
          <a:srcRect b="0" l="0" r="0" t="0"/>
          <a:stretch/>
        </p:blipFill>
        <p:spPr>
          <a:xfrm>
            <a:off x="121497" y="2249213"/>
            <a:ext cx="11949005" cy="283883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9"/>
          <p:cNvSpPr txBox="1"/>
          <p:nvPr>
            <p:ph type="title"/>
          </p:nvPr>
        </p:nvSpPr>
        <p:spPr>
          <a:xfrm>
            <a:off x="691055"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Statistics and Machine Learning Toolbox Functions Related to HMM</a:t>
            </a:r>
            <a:endParaRPr b="1">
              <a:solidFill>
                <a:srgbClr val="FF0000"/>
              </a:solidFill>
            </a:endParaRPr>
          </a:p>
        </p:txBody>
      </p:sp>
      <p:pic>
        <p:nvPicPr>
          <p:cNvPr id="343" name="Google Shape;343;p39"/>
          <p:cNvPicPr preferRelativeResize="0"/>
          <p:nvPr>
            <p:ph idx="1" type="body"/>
          </p:nvPr>
        </p:nvPicPr>
        <p:blipFill rotWithShape="1">
          <a:blip r:embed="rId3">
            <a:alphaModFix/>
          </a:blip>
          <a:srcRect b="0" l="0" r="0" t="0"/>
          <a:stretch/>
        </p:blipFill>
        <p:spPr>
          <a:xfrm>
            <a:off x="117539" y="1997603"/>
            <a:ext cx="12179565" cy="328527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Generating a Test Sequence</a:t>
            </a:r>
            <a:endParaRPr b="1">
              <a:solidFill>
                <a:srgbClr val="FF0000"/>
              </a:solidFill>
            </a:endParaRPr>
          </a:p>
        </p:txBody>
      </p:sp>
      <p:pic>
        <p:nvPicPr>
          <p:cNvPr id="349" name="Google Shape;349;p40"/>
          <p:cNvPicPr preferRelativeResize="0"/>
          <p:nvPr>
            <p:ph idx="1" type="body"/>
          </p:nvPr>
        </p:nvPicPr>
        <p:blipFill rotWithShape="1">
          <a:blip r:embed="rId3">
            <a:alphaModFix/>
          </a:blip>
          <a:srcRect b="0" l="0" r="0" t="0"/>
          <a:stretch/>
        </p:blipFill>
        <p:spPr>
          <a:xfrm>
            <a:off x="213153" y="2007477"/>
            <a:ext cx="11978847" cy="315036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Estimating the State Sequence</a:t>
            </a:r>
            <a:endParaRPr b="1">
              <a:solidFill>
                <a:srgbClr val="FF0000"/>
              </a:solidFill>
            </a:endParaRPr>
          </a:p>
        </p:txBody>
      </p:sp>
      <p:pic>
        <p:nvPicPr>
          <p:cNvPr id="355" name="Google Shape;355;p41"/>
          <p:cNvPicPr preferRelativeResize="0"/>
          <p:nvPr>
            <p:ph idx="1" type="body"/>
          </p:nvPr>
        </p:nvPicPr>
        <p:blipFill rotWithShape="1">
          <a:blip r:embed="rId3">
            <a:alphaModFix/>
          </a:blip>
          <a:srcRect b="0" l="0" r="0" t="0"/>
          <a:stretch/>
        </p:blipFill>
        <p:spPr>
          <a:xfrm>
            <a:off x="411885" y="1828800"/>
            <a:ext cx="11530494" cy="399348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Estimating Transition &amp; Emission Matrices</a:t>
            </a:r>
            <a:endParaRPr b="1">
              <a:solidFill>
                <a:srgbClr val="FF0000"/>
              </a:solidFill>
            </a:endParaRPr>
          </a:p>
        </p:txBody>
      </p:sp>
      <p:pic>
        <p:nvPicPr>
          <p:cNvPr id="361" name="Google Shape;361;p42"/>
          <p:cNvPicPr preferRelativeResize="0"/>
          <p:nvPr>
            <p:ph idx="1" type="body"/>
          </p:nvPr>
        </p:nvPicPr>
        <p:blipFill rotWithShape="1">
          <a:blip r:embed="rId3">
            <a:alphaModFix/>
          </a:blip>
          <a:srcRect b="0" l="0" r="0" t="0"/>
          <a:stretch/>
        </p:blipFill>
        <p:spPr>
          <a:xfrm>
            <a:off x="838200" y="1816812"/>
            <a:ext cx="10580855" cy="390374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3"/>
          <p:cNvSpPr txBox="1"/>
          <p:nvPr>
            <p:ph type="title"/>
          </p:nvPr>
        </p:nvSpPr>
        <p:spPr>
          <a:xfrm>
            <a:off x="838200" y="365126"/>
            <a:ext cx="10515600" cy="69642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FF0000"/>
              </a:buClr>
              <a:buSzPct val="100000"/>
              <a:buFont typeface="Play"/>
              <a:buNone/>
            </a:pPr>
            <a:r>
              <a:rPr b="1" lang="en-US">
                <a:solidFill>
                  <a:srgbClr val="FF0000"/>
                </a:solidFill>
              </a:rPr>
              <a:t>Using hmmtrain</a:t>
            </a:r>
            <a:endParaRPr b="1">
              <a:solidFill>
                <a:srgbClr val="FF0000"/>
              </a:solidFill>
            </a:endParaRPr>
          </a:p>
        </p:txBody>
      </p:sp>
      <p:pic>
        <p:nvPicPr>
          <p:cNvPr id="367" name="Google Shape;367;p43"/>
          <p:cNvPicPr preferRelativeResize="0"/>
          <p:nvPr>
            <p:ph idx="1" type="body"/>
          </p:nvPr>
        </p:nvPicPr>
        <p:blipFill rotWithShape="1">
          <a:blip r:embed="rId3">
            <a:alphaModFix/>
          </a:blip>
          <a:srcRect b="0" l="0" r="0" t="0"/>
          <a:stretch/>
        </p:blipFill>
        <p:spPr>
          <a:xfrm>
            <a:off x="1783201" y="1334815"/>
            <a:ext cx="9231639" cy="5020163"/>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Estimating Posterior State Probabilities</a:t>
            </a:r>
            <a:endParaRPr b="1">
              <a:solidFill>
                <a:srgbClr val="FF0000"/>
              </a:solidFill>
            </a:endParaRPr>
          </a:p>
        </p:txBody>
      </p:sp>
      <p:pic>
        <p:nvPicPr>
          <p:cNvPr id="373" name="Google Shape;373;p44"/>
          <p:cNvPicPr preferRelativeResize="0"/>
          <p:nvPr>
            <p:ph idx="1" type="body"/>
          </p:nvPr>
        </p:nvPicPr>
        <p:blipFill rotWithShape="1">
          <a:blip r:embed="rId3">
            <a:alphaModFix/>
          </a:blip>
          <a:srcRect b="0" l="0" r="0" t="0"/>
          <a:stretch/>
        </p:blipFill>
        <p:spPr>
          <a:xfrm>
            <a:off x="838200" y="2157113"/>
            <a:ext cx="11204027" cy="2205444"/>
          </a:xfrm>
          <a:prstGeom prst="rect">
            <a:avLst/>
          </a:prstGeom>
          <a:noFill/>
          <a:ln>
            <a:noFill/>
          </a:ln>
        </p:spPr>
      </p:pic>
      <p:sp>
        <p:nvSpPr>
          <p:cNvPr id="374" name="Google Shape;374;p44"/>
          <p:cNvSpPr txBox="1"/>
          <p:nvPr/>
        </p:nvSpPr>
        <p:spPr>
          <a:xfrm>
            <a:off x="1539089" y="4459650"/>
            <a:ext cx="71663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plot(1:length(seq),PSTATES(1,:),'r', 1:length(seq),PSTATES(2,:),'g')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5"/>
          <p:cNvSpPr txBox="1"/>
          <p:nvPr>
            <p:ph type="title"/>
          </p:nvPr>
        </p:nvSpPr>
        <p:spPr>
          <a:xfrm>
            <a:off x="838200" y="0"/>
            <a:ext cx="10515600" cy="45874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2400"/>
              <a:buFont typeface="Play"/>
              <a:buNone/>
            </a:pPr>
            <a:r>
              <a:rPr lang="en-US" sz="2400">
                <a:solidFill>
                  <a:srgbClr val="FF0000"/>
                </a:solidFill>
              </a:rPr>
              <a:t>HMM for CpG Islands</a:t>
            </a:r>
            <a:endParaRPr/>
          </a:p>
        </p:txBody>
      </p:sp>
      <p:pic>
        <p:nvPicPr>
          <p:cNvPr id="380" name="Google Shape;380;p45"/>
          <p:cNvPicPr preferRelativeResize="0"/>
          <p:nvPr>
            <p:ph idx="1" type="body"/>
          </p:nvPr>
        </p:nvPicPr>
        <p:blipFill rotWithShape="1">
          <a:blip r:embed="rId3">
            <a:alphaModFix/>
          </a:blip>
          <a:srcRect b="0" l="0" r="0" t="0"/>
          <a:stretch/>
        </p:blipFill>
        <p:spPr>
          <a:xfrm>
            <a:off x="3025529" y="458740"/>
            <a:ext cx="6140942" cy="614988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386" name="Google Shape;386;p46"/>
          <p:cNvPicPr preferRelativeResize="0"/>
          <p:nvPr>
            <p:ph idx="1" type="body"/>
          </p:nvPr>
        </p:nvPicPr>
        <p:blipFill rotWithShape="1">
          <a:blip r:embed="rId3">
            <a:alphaModFix/>
          </a:blip>
          <a:srcRect b="0" l="0" r="0" t="0"/>
          <a:stretch/>
        </p:blipFill>
        <p:spPr>
          <a:xfrm>
            <a:off x="83976" y="1312623"/>
            <a:ext cx="2873829" cy="5109030"/>
          </a:xfrm>
          <a:prstGeom prst="rect">
            <a:avLst/>
          </a:prstGeom>
          <a:noFill/>
          <a:ln>
            <a:noFill/>
          </a:ln>
        </p:spPr>
      </p:pic>
      <p:pic>
        <p:nvPicPr>
          <p:cNvPr id="387" name="Google Shape;387;p46"/>
          <p:cNvPicPr preferRelativeResize="0"/>
          <p:nvPr/>
        </p:nvPicPr>
        <p:blipFill rotWithShape="1">
          <a:blip r:embed="rId4">
            <a:alphaModFix/>
          </a:blip>
          <a:srcRect b="0" l="0" r="0" t="0"/>
          <a:stretch/>
        </p:blipFill>
        <p:spPr>
          <a:xfrm>
            <a:off x="838200" y="681037"/>
            <a:ext cx="10608906" cy="539142"/>
          </a:xfrm>
          <a:prstGeom prst="rect">
            <a:avLst/>
          </a:prstGeom>
          <a:noFill/>
          <a:ln>
            <a:noFill/>
          </a:ln>
        </p:spPr>
      </p:pic>
      <p:pic>
        <p:nvPicPr>
          <p:cNvPr id="388" name="Google Shape;388;p46"/>
          <p:cNvPicPr preferRelativeResize="0"/>
          <p:nvPr/>
        </p:nvPicPr>
        <p:blipFill rotWithShape="1">
          <a:blip r:embed="rId5">
            <a:alphaModFix/>
          </a:blip>
          <a:srcRect b="0" l="0" r="0" t="0"/>
          <a:stretch/>
        </p:blipFill>
        <p:spPr>
          <a:xfrm>
            <a:off x="3093471" y="1110343"/>
            <a:ext cx="2119687" cy="5598367"/>
          </a:xfrm>
          <a:prstGeom prst="rect">
            <a:avLst/>
          </a:prstGeom>
          <a:noFill/>
          <a:ln>
            <a:noFill/>
          </a:ln>
        </p:spPr>
      </p:pic>
      <p:pic>
        <p:nvPicPr>
          <p:cNvPr id="389" name="Google Shape;389;p46"/>
          <p:cNvPicPr preferRelativeResize="0"/>
          <p:nvPr/>
        </p:nvPicPr>
        <p:blipFill rotWithShape="1">
          <a:blip r:embed="rId6">
            <a:alphaModFix/>
          </a:blip>
          <a:srcRect b="0" l="0" r="0" t="0"/>
          <a:stretch/>
        </p:blipFill>
        <p:spPr>
          <a:xfrm>
            <a:off x="5861731" y="1110343"/>
            <a:ext cx="1957657" cy="5598367"/>
          </a:xfrm>
          <a:prstGeom prst="rect">
            <a:avLst/>
          </a:prstGeom>
          <a:noFill/>
          <a:ln>
            <a:noFill/>
          </a:ln>
        </p:spPr>
      </p:pic>
      <p:pic>
        <p:nvPicPr>
          <p:cNvPr id="390" name="Google Shape;390;p46"/>
          <p:cNvPicPr preferRelativeResize="0"/>
          <p:nvPr/>
        </p:nvPicPr>
        <p:blipFill rotWithShape="1">
          <a:blip r:embed="rId7">
            <a:alphaModFix/>
          </a:blip>
          <a:srcRect b="0" l="0" r="0" t="0"/>
          <a:stretch/>
        </p:blipFill>
        <p:spPr>
          <a:xfrm>
            <a:off x="8548950" y="1826058"/>
            <a:ext cx="3643050" cy="320588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396" name="Google Shape;396;p47"/>
          <p:cNvPicPr preferRelativeResize="0"/>
          <p:nvPr>
            <p:ph idx="1" type="body"/>
          </p:nvPr>
        </p:nvPicPr>
        <p:blipFill rotWithShape="1">
          <a:blip r:embed="rId3">
            <a:alphaModFix/>
          </a:blip>
          <a:srcRect b="0" l="0" r="0" t="0"/>
          <a:stretch/>
        </p:blipFill>
        <p:spPr>
          <a:xfrm>
            <a:off x="1626183" y="74645"/>
            <a:ext cx="8751552" cy="656756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402" name="Google Shape;402;p48"/>
          <p:cNvPicPr preferRelativeResize="0"/>
          <p:nvPr>
            <p:ph idx="1" type="body"/>
          </p:nvPr>
        </p:nvPicPr>
        <p:blipFill rotWithShape="1">
          <a:blip r:embed="rId3">
            <a:alphaModFix/>
          </a:blip>
          <a:srcRect b="0" l="0" r="0" t="0"/>
          <a:stretch/>
        </p:blipFill>
        <p:spPr>
          <a:xfrm>
            <a:off x="1647338" y="65314"/>
            <a:ext cx="8564991" cy="642756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408" name="Google Shape;408;p49"/>
          <p:cNvPicPr preferRelativeResize="0"/>
          <p:nvPr>
            <p:ph idx="1" type="body"/>
          </p:nvPr>
        </p:nvPicPr>
        <p:blipFill rotWithShape="1">
          <a:blip r:embed="rId3">
            <a:alphaModFix/>
          </a:blip>
          <a:srcRect b="0" l="0" r="0" t="0"/>
          <a:stretch/>
        </p:blipFill>
        <p:spPr>
          <a:xfrm>
            <a:off x="7067550" y="3540125"/>
            <a:ext cx="4286250" cy="2952750"/>
          </a:xfrm>
          <a:prstGeom prst="rect">
            <a:avLst/>
          </a:prstGeom>
          <a:noFill/>
          <a:ln>
            <a:noFill/>
          </a:ln>
        </p:spPr>
      </p:pic>
      <p:pic>
        <p:nvPicPr>
          <p:cNvPr id="409" name="Google Shape;409;p49"/>
          <p:cNvPicPr preferRelativeResize="0"/>
          <p:nvPr/>
        </p:nvPicPr>
        <p:blipFill rotWithShape="1">
          <a:blip r:embed="rId4">
            <a:alphaModFix/>
          </a:blip>
          <a:srcRect b="0" l="0" r="0" t="0"/>
          <a:stretch/>
        </p:blipFill>
        <p:spPr>
          <a:xfrm>
            <a:off x="4371171" y="541056"/>
            <a:ext cx="7324725" cy="2771775"/>
          </a:xfrm>
          <a:prstGeom prst="rect">
            <a:avLst/>
          </a:prstGeom>
          <a:noFill/>
          <a:ln>
            <a:noFill/>
          </a:ln>
        </p:spPr>
      </p:pic>
      <p:sp>
        <p:nvSpPr>
          <p:cNvPr id="410" name="Google Shape;410;p49"/>
          <p:cNvSpPr txBox="1"/>
          <p:nvPr/>
        </p:nvSpPr>
        <p:spPr>
          <a:xfrm>
            <a:off x="640557" y="2185895"/>
            <a:ext cx="283597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start_stop =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    Starts: [696    1055 1384]</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     Stops: [1031 1291 1612]</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Human Chromosome 22</a:t>
            </a:r>
            <a:br>
              <a:rPr b="1" lang="en-US">
                <a:solidFill>
                  <a:srgbClr val="FF0000"/>
                </a:solidFill>
              </a:rPr>
            </a:br>
            <a:r>
              <a:rPr b="1" lang="en-US">
                <a:solidFill>
                  <a:srgbClr val="FF0000"/>
                </a:solidFill>
              </a:rPr>
              <a:t>09 Contigs</a:t>
            </a:r>
            <a:endParaRPr/>
          </a:p>
        </p:txBody>
      </p:sp>
      <p:pic>
        <p:nvPicPr>
          <p:cNvPr id="416" name="Google Shape;416;p50"/>
          <p:cNvPicPr preferRelativeResize="0"/>
          <p:nvPr>
            <p:ph idx="1" type="body"/>
          </p:nvPr>
        </p:nvPicPr>
        <p:blipFill rotWithShape="1">
          <a:blip r:embed="rId3">
            <a:alphaModFix/>
          </a:blip>
          <a:srcRect b="0" l="0" r="0" t="0"/>
          <a:stretch/>
        </p:blipFill>
        <p:spPr>
          <a:xfrm>
            <a:off x="2964873" y="1690688"/>
            <a:ext cx="5506749" cy="423753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Play"/>
              <a:buNone/>
            </a:pPr>
            <a:r>
              <a:rPr b="1" lang="en-US">
                <a:solidFill>
                  <a:srgbClr val="FF0000"/>
                </a:solidFill>
              </a:rPr>
              <a:t>CpG Islands</a:t>
            </a:r>
            <a:endParaRPr/>
          </a:p>
        </p:txBody>
      </p:sp>
      <p:sp>
        <p:nvSpPr>
          <p:cNvPr id="422" name="Google Shape;422;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Link to get CpG island locations in the 09 contigs of Chromosome 22-</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rgbClr val="0070C0"/>
              </a:buClr>
              <a:buSzPts val="2000"/>
              <a:buNone/>
            </a:pPr>
            <a:r>
              <a:rPr lang="en-US" sz="2000">
                <a:solidFill>
                  <a:srgbClr val="0070C0"/>
                </a:solidFill>
              </a:rPr>
              <a:t>        https://www.cs.rice.edu/~devika/comp470/hw1/ncbimapBuild_36.3_22_cpg_0K.txt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428" name="Google Shape;428;p52"/>
          <p:cNvPicPr preferRelativeResize="0"/>
          <p:nvPr>
            <p:ph idx="1" type="body"/>
          </p:nvPr>
        </p:nvPicPr>
        <p:blipFill rotWithShape="1">
          <a:blip r:embed="rId3">
            <a:alphaModFix/>
          </a:blip>
          <a:srcRect b="0" l="0" r="0" t="0"/>
          <a:stretch/>
        </p:blipFill>
        <p:spPr>
          <a:xfrm>
            <a:off x="2464033" y="157589"/>
            <a:ext cx="7026331" cy="654282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id="434" name="Google Shape;434;p53"/>
          <p:cNvPicPr preferRelativeResize="0"/>
          <p:nvPr>
            <p:ph idx="1" type="body"/>
          </p:nvPr>
        </p:nvPicPr>
        <p:blipFill rotWithShape="1">
          <a:blip r:embed="rId3">
            <a:alphaModFix/>
          </a:blip>
          <a:srcRect b="0" l="0" r="0" t="0"/>
          <a:stretch/>
        </p:blipFill>
        <p:spPr>
          <a:xfrm>
            <a:off x="1254245" y="365125"/>
            <a:ext cx="9683509" cy="5679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2024-09-10T03:19:16Z</dcterms:created>
  <dc:creator>Prof. Sanjeev Narayan Sharma</dc:creator>
</cp:coreProperties>
</file>